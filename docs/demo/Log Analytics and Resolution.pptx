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6"/>
  </p:notesMasterIdLst>
  <p:sldIdLst>
    <p:sldId id="256" r:id="rId2"/>
    <p:sldId id="259" r:id="rId3"/>
    <p:sldId id="282" r:id="rId4"/>
    <p:sldId id="281" r:id="rId5"/>
    <p:sldId id="280" r:id="rId6"/>
    <p:sldId id="261" r:id="rId7"/>
    <p:sldId id="285" r:id="rId8"/>
    <p:sldId id="262" r:id="rId9"/>
    <p:sldId id="271" r:id="rId10"/>
    <p:sldId id="263" r:id="rId11"/>
    <p:sldId id="265" r:id="rId12"/>
    <p:sldId id="270" r:id="rId13"/>
    <p:sldId id="266" r:id="rId14"/>
    <p:sldId id="268" r:id="rId15"/>
    <p:sldId id="286" r:id="rId16"/>
    <p:sldId id="283" r:id="rId17"/>
    <p:sldId id="267" r:id="rId18"/>
    <p:sldId id="278" r:id="rId19"/>
    <p:sldId id="272" r:id="rId20"/>
    <p:sldId id="276" r:id="rId21"/>
    <p:sldId id="277" r:id="rId22"/>
    <p:sldId id="284" r:id="rId23"/>
    <p:sldId id="273" r:id="rId24"/>
    <p:sldId id="274"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046"/>
    <p:restoredTop sz="81698"/>
  </p:normalViewPr>
  <p:slideViewPr>
    <p:cSldViewPr snapToGrid="0">
      <p:cViewPr varScale="1">
        <p:scale>
          <a:sx n="78" d="100"/>
          <a:sy n="78" d="100"/>
        </p:scale>
        <p:origin x="2272" y="9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524859-DD21-EE42-8B85-64DA53DCB7C3}" type="datetimeFigureOut">
              <a:rPr lang="en-US" smtClean="0"/>
              <a:t>5/23/26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2730B8-A56D-A042-B7A2-CB675DEF2D11}" type="slidenum">
              <a:rPr lang="en-US" smtClean="0"/>
              <a:t>‹#›</a:t>
            </a:fld>
            <a:endParaRPr lang="en-US"/>
          </a:p>
        </p:txBody>
      </p:sp>
    </p:spTree>
    <p:extLst>
      <p:ext uri="{BB962C8B-B14F-4D97-AF65-F5344CB8AC3E}">
        <p14:creationId xmlns:p14="http://schemas.microsoft.com/office/powerpoint/2010/main" val="2649069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"Self-service resolution" in enterprise means:</a:t>
            </a:r>
          </a:p>
          <a:p>
            <a:r>
              <a:rPr lang="en-US" dirty="0"/>
              <a:t>  - System identifies issue → matches signature → provides resolution steps/KB</a:t>
            </a:r>
          </a:p>
          <a:p>
            <a:r>
              <a:rPr lang="en-US" dirty="0"/>
              <a:t>  - Enterprise Admin reviews and decides when to apply</a:t>
            </a:r>
          </a:p>
          <a:p>
            <a:r>
              <a:rPr lang="en-US" dirty="0"/>
              <a:t>  - Admin communicates to users (email, scheduled maintenance window)</a:t>
            </a:r>
          </a:p>
          <a:p>
            <a:r>
              <a:rPr lang="en-US" dirty="0"/>
              <a:t>  - Admin triggers rollout via portal</a:t>
            </a:r>
          </a:p>
          <a:p>
            <a:endParaRPr lang="en-US" dirty="0"/>
          </a:p>
          <a:p>
            <a:r>
              <a:rPr lang="en-US" dirty="0"/>
              <a:t>  Not:</a:t>
            </a:r>
          </a:p>
          <a:p>
            <a:r>
              <a:rPr lang="en-US" dirty="0"/>
              <a:t>  - Logs Agent auto-updates apps, OS, or restarts systems</a:t>
            </a:r>
          </a:p>
          <a:p>
            <a:r>
              <a:rPr lang="en-US" dirty="0"/>
              <a:t>  - End-users getting popups to "click here to fix"</a:t>
            </a:r>
          </a:p>
          <a:p>
            <a:endParaRPr lang="en-US" dirty="0"/>
          </a:p>
          <a:p>
            <a:r>
              <a:rPr lang="en-US" dirty="0"/>
              <a:t>  Why this matters</a:t>
            </a:r>
          </a:p>
          <a:p>
            <a:r>
              <a:rPr lang="en-US" dirty="0"/>
              <a:t>  - Compliance: enterprises have change management policies; unauthorized changes = audit failures</a:t>
            </a:r>
          </a:p>
          <a:p>
            <a:r>
              <a:rPr lang="en-US" dirty="0"/>
              <a:t>  - Coordination: a "fix" that restarts a service during business hours could be worse than the bug</a:t>
            </a:r>
          </a:p>
          <a:p>
            <a:r>
              <a:rPr lang="en-US" dirty="0"/>
              <a:t>  - Accountability: admins need to approve and track what changed</a:t>
            </a:r>
          </a:p>
          <a:p>
            <a:r>
              <a:rPr lang="en-US" dirty="0"/>
              <a:t>  - Communication: users need advance notice, not surprise reboots</a:t>
            </a:r>
          </a:p>
        </p:txBody>
      </p:sp>
      <p:sp>
        <p:nvSpPr>
          <p:cNvPr id="4" name="Slide Number Placeholder 3"/>
          <p:cNvSpPr>
            <a:spLocks noGrp="1"/>
          </p:cNvSpPr>
          <p:nvPr>
            <p:ph type="sldNum" sz="quarter" idx="5"/>
          </p:nvPr>
        </p:nvSpPr>
        <p:spPr/>
        <p:txBody>
          <a:bodyPr/>
          <a:lstStyle/>
          <a:p>
            <a:fld id="{BC2730B8-A56D-A042-B7A2-CB675DEF2D11}" type="slidenum">
              <a:rPr lang="en-US" smtClean="0"/>
              <a:t>2</a:t>
            </a:fld>
            <a:endParaRPr lang="en-US"/>
          </a:p>
        </p:txBody>
      </p:sp>
    </p:spTree>
    <p:extLst>
      <p:ext uri="{BB962C8B-B14F-4D97-AF65-F5344CB8AC3E}">
        <p14:creationId xmlns:p14="http://schemas.microsoft.com/office/powerpoint/2010/main" val="2881167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Logs Agent Client runs in a separate process so it can monitor App. It does not impact app’s performance.</a:t>
            </a:r>
          </a:p>
          <a:p>
            <a:endParaRPr lang="en-US" dirty="0"/>
          </a:p>
        </p:txBody>
      </p:sp>
      <p:sp>
        <p:nvSpPr>
          <p:cNvPr id="4" name="Slide Number Placeholder 3"/>
          <p:cNvSpPr>
            <a:spLocks noGrp="1"/>
          </p:cNvSpPr>
          <p:nvPr>
            <p:ph type="sldNum" sz="quarter" idx="5"/>
          </p:nvPr>
        </p:nvSpPr>
        <p:spPr/>
        <p:txBody>
          <a:bodyPr/>
          <a:lstStyle/>
          <a:p>
            <a:fld id="{BC2730B8-A56D-A042-B7A2-CB675DEF2D11}" type="slidenum">
              <a:rPr lang="en-US" smtClean="0"/>
              <a:t>9</a:t>
            </a:fld>
            <a:endParaRPr lang="en-US"/>
          </a:p>
        </p:txBody>
      </p:sp>
    </p:spTree>
    <p:extLst>
      <p:ext uri="{BB962C8B-B14F-4D97-AF65-F5344CB8AC3E}">
        <p14:creationId xmlns:p14="http://schemas.microsoft.com/office/powerpoint/2010/main" val="465828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configure client to collect telemetry + error logs.</a:t>
            </a:r>
          </a:p>
          <a:p>
            <a:r>
              <a:rPr lang="en-US" dirty="0"/>
              <a:t>Same app, different enterprises have different configurations</a:t>
            </a:r>
          </a:p>
        </p:txBody>
      </p:sp>
      <p:sp>
        <p:nvSpPr>
          <p:cNvPr id="4" name="Slide Number Placeholder 3"/>
          <p:cNvSpPr>
            <a:spLocks noGrp="1"/>
          </p:cNvSpPr>
          <p:nvPr>
            <p:ph type="sldNum" sz="quarter" idx="5"/>
          </p:nvPr>
        </p:nvSpPr>
        <p:spPr/>
        <p:txBody>
          <a:bodyPr/>
          <a:lstStyle/>
          <a:p>
            <a:fld id="{BC2730B8-A56D-A042-B7A2-CB675DEF2D11}" type="slidenum">
              <a:rPr lang="en-US" smtClean="0"/>
              <a:t>10</a:t>
            </a:fld>
            <a:endParaRPr lang="en-US"/>
          </a:p>
        </p:txBody>
      </p:sp>
    </p:spTree>
    <p:extLst>
      <p:ext uri="{BB962C8B-B14F-4D97-AF65-F5344CB8AC3E}">
        <p14:creationId xmlns:p14="http://schemas.microsoft.com/office/powerpoint/2010/main" val="1391318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2730B8-A56D-A042-B7A2-CB675DEF2D11}" type="slidenum">
              <a:rPr lang="en-US" smtClean="0"/>
              <a:t>11</a:t>
            </a:fld>
            <a:endParaRPr lang="en-US"/>
          </a:p>
        </p:txBody>
      </p:sp>
    </p:spTree>
    <p:extLst>
      <p:ext uri="{BB962C8B-B14F-4D97-AF65-F5344CB8AC3E}">
        <p14:creationId xmlns:p14="http://schemas.microsoft.com/office/powerpoint/2010/main" val="3324638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 Ingestion normalizes different formats — raw text, Windows Event Log (.</a:t>
            </a:r>
            <a:r>
              <a:rPr lang="en-US" dirty="0" err="1"/>
              <a:t>evtx</a:t>
            </a:r>
            <a:r>
              <a:rPr lang="en-US" dirty="0"/>
              <a:t>), macOS unified logs — into a common schema before processing.</a:t>
            </a:r>
          </a:p>
        </p:txBody>
      </p:sp>
      <p:sp>
        <p:nvSpPr>
          <p:cNvPr id="4" name="Slide Number Placeholder 3"/>
          <p:cNvSpPr>
            <a:spLocks noGrp="1"/>
          </p:cNvSpPr>
          <p:nvPr>
            <p:ph type="sldNum" sz="quarter" idx="5"/>
          </p:nvPr>
        </p:nvSpPr>
        <p:spPr/>
        <p:txBody>
          <a:bodyPr/>
          <a:lstStyle/>
          <a:p>
            <a:fld id="{BC2730B8-A56D-A042-B7A2-CB675DEF2D11}" type="slidenum">
              <a:rPr lang="en-US" smtClean="0"/>
              <a:t>13</a:t>
            </a:fld>
            <a:endParaRPr lang="en-US"/>
          </a:p>
        </p:txBody>
      </p:sp>
    </p:spTree>
    <p:extLst>
      <p:ext uri="{BB962C8B-B14F-4D97-AF65-F5344CB8AC3E}">
        <p14:creationId xmlns:p14="http://schemas.microsoft.com/office/powerpoint/2010/main" val="11801438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v1, signatures give us control and fast iteration.</a:t>
            </a:r>
            <a:br>
              <a:rPr lang="en-US" dirty="0"/>
            </a:br>
            <a:endParaRPr lang="en-US" dirty="0"/>
          </a:p>
        </p:txBody>
      </p:sp>
      <p:sp>
        <p:nvSpPr>
          <p:cNvPr id="4" name="Slide Number Placeholder 3"/>
          <p:cNvSpPr>
            <a:spLocks noGrp="1"/>
          </p:cNvSpPr>
          <p:nvPr>
            <p:ph type="sldNum" sz="quarter" idx="5"/>
          </p:nvPr>
        </p:nvSpPr>
        <p:spPr/>
        <p:txBody>
          <a:bodyPr/>
          <a:lstStyle/>
          <a:p>
            <a:fld id="{BC2730B8-A56D-A042-B7A2-CB675DEF2D11}" type="slidenum">
              <a:rPr lang="en-US" smtClean="0"/>
              <a:t>14</a:t>
            </a:fld>
            <a:endParaRPr lang="en-US"/>
          </a:p>
        </p:txBody>
      </p:sp>
    </p:spTree>
    <p:extLst>
      <p:ext uri="{BB962C8B-B14F-4D97-AF65-F5344CB8AC3E}">
        <p14:creationId xmlns:p14="http://schemas.microsoft.com/office/powerpoint/2010/main" val="34038826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3703E-2456-4384-9EFF-95D14A9D46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B2D550-2DD7-3F34-3DCC-B57DD06364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5152CA-9216-E10C-572D-472D50E61B82}"/>
              </a:ext>
            </a:extLst>
          </p:cNvPr>
          <p:cNvSpPr>
            <a:spLocks noGrp="1"/>
          </p:cNvSpPr>
          <p:nvPr>
            <p:ph type="body" idx="1"/>
          </p:nvPr>
        </p:nvSpPr>
        <p:spPr/>
        <p:txBody>
          <a:bodyPr/>
          <a:lstStyle/>
          <a:p>
            <a:br>
              <a:rPr lang="en-US" dirty="0"/>
            </a:br>
            <a:r>
              <a:rPr lang="en-US" dirty="0"/>
              <a:t>1. For truly unknown failures, intentionally kept engineers in the loop. Unknown means we haven't seen it before. Automating 'what's missing' for something we don't understand yet is risky. Engineers bring judgment.</a:t>
            </a:r>
          </a:p>
          <a:p>
            <a:r>
              <a:rPr lang="en-US" dirty="0"/>
              <a:t>2. What IS automatic:</a:t>
            </a:r>
          </a:p>
          <a:p>
            <a:r>
              <a:rPr lang="en-US" dirty="0"/>
              <a:t>  - "The system automatically routes unknown issues to engineering, creates bug tickets, and provides infrastructure to quickly request additional data. The automation is in the workflow, not the diagnosis.</a:t>
            </a:r>
          </a:p>
          <a:p>
            <a:endParaRPr lang="en-US" dirty="0"/>
          </a:p>
          <a:p>
            <a:r>
              <a:rPr lang="en-US" dirty="0"/>
              <a:t>Full automation for unknown failures is risky — we'd be guessing. Instead, the system enables rapid iteration: engineer analyzes → updates config → pushed to client in minutes. V2 could add heuristics.</a:t>
            </a:r>
          </a:p>
        </p:txBody>
      </p:sp>
      <p:sp>
        <p:nvSpPr>
          <p:cNvPr id="4" name="Slide Number Placeholder 3">
            <a:extLst>
              <a:ext uri="{FF2B5EF4-FFF2-40B4-BE49-F238E27FC236}">
                <a16:creationId xmlns:a16="http://schemas.microsoft.com/office/drawing/2014/main" id="{0E3A19D6-2C99-2F1A-D35C-E6E3A6E54C92}"/>
              </a:ext>
            </a:extLst>
          </p:cNvPr>
          <p:cNvSpPr>
            <a:spLocks noGrp="1"/>
          </p:cNvSpPr>
          <p:nvPr>
            <p:ph type="sldNum" sz="quarter" idx="5"/>
          </p:nvPr>
        </p:nvSpPr>
        <p:spPr/>
        <p:txBody>
          <a:bodyPr/>
          <a:lstStyle/>
          <a:p>
            <a:fld id="{BC2730B8-A56D-A042-B7A2-CB675DEF2D11}" type="slidenum">
              <a:rPr lang="en-US" smtClean="0"/>
              <a:t>15</a:t>
            </a:fld>
            <a:endParaRPr lang="en-US"/>
          </a:p>
        </p:txBody>
      </p:sp>
    </p:spTree>
    <p:extLst>
      <p:ext uri="{BB962C8B-B14F-4D97-AF65-F5344CB8AC3E}">
        <p14:creationId xmlns:p14="http://schemas.microsoft.com/office/powerpoint/2010/main" val="12116154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2730B8-A56D-A042-B7A2-CB675DEF2D11}" type="slidenum">
              <a:rPr lang="en-US" smtClean="0"/>
              <a:t>16</a:t>
            </a:fld>
            <a:endParaRPr lang="en-US"/>
          </a:p>
        </p:txBody>
      </p:sp>
    </p:spTree>
    <p:extLst>
      <p:ext uri="{BB962C8B-B14F-4D97-AF65-F5344CB8AC3E}">
        <p14:creationId xmlns:p14="http://schemas.microsoft.com/office/powerpoint/2010/main" val="42606203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SSE – Server-Sent-Events</a:t>
            </a:r>
          </a:p>
          <a:p>
            <a:r>
              <a:rPr lang="en-US" dirty="0"/>
              <a:t>Client → Backend</a:t>
            </a:r>
          </a:p>
          <a:p>
            <a:r>
              <a:rPr lang="en-US" dirty="0"/>
              <a:t>  - POST /logs - Submit log payload</a:t>
            </a:r>
          </a:p>
          <a:p>
            <a:r>
              <a:rPr lang="en-US" dirty="0"/>
              <a:t>  - GET /configs/:</a:t>
            </a:r>
            <a:r>
              <a:rPr lang="en-US" dirty="0" err="1"/>
              <a:t>tenantId</a:t>
            </a:r>
            <a:r>
              <a:rPr lang="en-US" dirty="0"/>
              <a:t> - Download diagnostic configuration</a:t>
            </a:r>
          </a:p>
          <a:p>
            <a:r>
              <a:rPr lang="en-US" dirty="0"/>
              <a:t>  - GET /configs/subscribe/:</a:t>
            </a:r>
            <a:r>
              <a:rPr lang="en-US" dirty="0" err="1"/>
              <a:t>tenantId</a:t>
            </a:r>
            <a:r>
              <a:rPr lang="en-US" dirty="0"/>
              <a:t> - SSE for config updates</a:t>
            </a:r>
          </a:p>
          <a:p>
            <a:endParaRPr lang="en-US" dirty="0"/>
          </a:p>
          <a:p>
            <a:r>
              <a:rPr lang="en-US" dirty="0"/>
              <a:t>  Portal → Backend (Issues)</a:t>
            </a:r>
          </a:p>
          <a:p>
            <a:r>
              <a:rPr lang="en-US" dirty="0"/>
              <a:t>  - GET /issues - List issues (with filters, stats, dashboard data)</a:t>
            </a:r>
          </a:p>
          <a:p>
            <a:r>
              <a:rPr lang="en-US" dirty="0"/>
              <a:t>  - GET /configs/subscribe/:</a:t>
            </a:r>
            <a:r>
              <a:rPr lang="en-US" dirty="0" err="1"/>
              <a:t>tenantId</a:t>
            </a:r>
            <a:r>
              <a:rPr lang="en-US" dirty="0"/>
              <a:t> - SSE for config updates</a:t>
            </a:r>
          </a:p>
          <a:p>
            <a:endParaRPr lang="en-US" dirty="0"/>
          </a:p>
          <a:p>
            <a:r>
              <a:rPr lang="en-US" dirty="0"/>
              <a:t>  Portal → Backend (Issues)</a:t>
            </a:r>
          </a:p>
          <a:p>
            <a:r>
              <a:rPr lang="en-US" dirty="0"/>
              <a:t>  - GET /issues - List issues (with filters, stats, dashboard data)</a:t>
            </a:r>
          </a:p>
          <a:p>
            <a:r>
              <a:rPr lang="en-US" dirty="0"/>
              <a:t>  - GET /issues/:id - Issue details + resolution</a:t>
            </a:r>
          </a:p>
          <a:p>
            <a:r>
              <a:rPr lang="en-US" dirty="0"/>
              <a:t>  - PUT /issues/:id - Update issue status</a:t>
            </a:r>
          </a:p>
          <a:p>
            <a:r>
              <a:rPr lang="en-US" dirty="0"/>
              <a:t>  - POST /issues/:id/logs - Add additional log data</a:t>
            </a:r>
          </a:p>
          <a:p>
            <a:r>
              <a:rPr lang="en-US" dirty="0"/>
              <a:t>  - POST /issues/resolve-matching - Batch resolve matching issues</a:t>
            </a:r>
          </a:p>
          <a:p>
            <a:endParaRPr lang="en-US" dirty="0"/>
          </a:p>
          <a:p>
            <a:r>
              <a:rPr lang="en-US" dirty="0"/>
              <a:t>  Portal → Backend (Signatures)</a:t>
            </a:r>
          </a:p>
          <a:p>
            <a:r>
              <a:rPr lang="en-US" dirty="0"/>
              <a:t>  - GET /signatures - List all signatures</a:t>
            </a:r>
          </a:p>
          <a:p>
            <a:r>
              <a:rPr lang="en-US" dirty="0"/>
              <a:t>  - POST /signatures - Add new signature</a:t>
            </a:r>
          </a:p>
          <a:p>
            <a:r>
              <a:rPr lang="en-US" dirty="0"/>
              <a:t>  - PUT /signatures/:id - Update signature</a:t>
            </a:r>
          </a:p>
          <a:p>
            <a:endParaRPr lang="en-US" dirty="0"/>
          </a:p>
          <a:p>
            <a:r>
              <a:rPr lang="en-US" dirty="0"/>
              <a:t>  Portal → Backend (Configs)</a:t>
            </a:r>
          </a:p>
          <a:p>
            <a:r>
              <a:rPr lang="en-US" dirty="0"/>
              <a:t>  - GET /configs - List all configs</a:t>
            </a:r>
          </a:p>
          <a:p>
            <a:r>
              <a:rPr lang="en-US" dirty="0"/>
              <a:t>  - POST /configs - Create/update config</a:t>
            </a:r>
          </a:p>
          <a:p>
            <a:r>
              <a:rPr lang="en-US" dirty="0"/>
              <a:t>  - PUT /configs/:</a:t>
            </a:r>
            <a:r>
              <a:rPr lang="en-US" dirty="0" err="1"/>
              <a:t>configId</a:t>
            </a:r>
            <a:r>
              <a:rPr lang="en-US" dirty="0"/>
              <a:t>/status - Update deployment status</a:t>
            </a:r>
          </a:p>
          <a:p>
            <a:r>
              <a:rPr lang="en-US" dirty="0"/>
              <a:t>  - DELETE /configs/:</a:t>
            </a:r>
            <a:r>
              <a:rPr lang="en-US" dirty="0" err="1"/>
              <a:t>tenantId</a:t>
            </a:r>
            <a:r>
              <a:rPr lang="en-US" dirty="0"/>
              <a:t> - Delete config</a:t>
            </a:r>
          </a:p>
          <a:p>
            <a:endParaRPr lang="en-US" dirty="0"/>
          </a:p>
        </p:txBody>
      </p:sp>
      <p:sp>
        <p:nvSpPr>
          <p:cNvPr id="4" name="Slide Number Placeholder 3"/>
          <p:cNvSpPr>
            <a:spLocks noGrp="1"/>
          </p:cNvSpPr>
          <p:nvPr>
            <p:ph type="sldNum" sz="quarter" idx="5"/>
          </p:nvPr>
        </p:nvSpPr>
        <p:spPr/>
        <p:txBody>
          <a:bodyPr/>
          <a:lstStyle/>
          <a:p>
            <a:fld id="{BC2730B8-A56D-A042-B7A2-CB675DEF2D11}" type="slidenum">
              <a:rPr lang="en-US" smtClean="0"/>
              <a:t>20</a:t>
            </a:fld>
            <a:endParaRPr lang="en-US"/>
          </a:p>
        </p:txBody>
      </p:sp>
    </p:spTree>
    <p:extLst>
      <p:ext uri="{BB962C8B-B14F-4D97-AF65-F5344CB8AC3E}">
        <p14:creationId xmlns:p14="http://schemas.microsoft.com/office/powerpoint/2010/main" val="1894566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5/23/26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5/23/26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5/23/26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5/23/26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5/23/26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5/23/26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5/23/26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EF71A-5F73-BC65-6EAC-C6C569A5F614}"/>
              </a:ext>
            </a:extLst>
          </p:cNvPr>
          <p:cNvSpPr>
            <a:spLocks noGrp="1"/>
          </p:cNvSpPr>
          <p:nvPr>
            <p:ph type="ctrTitle"/>
          </p:nvPr>
        </p:nvSpPr>
        <p:spPr/>
        <p:txBody>
          <a:bodyPr/>
          <a:lstStyle/>
          <a:p>
            <a:r>
              <a:rPr lang="en-US" dirty="0"/>
              <a:t>Log Analytics and Resolution</a:t>
            </a:r>
          </a:p>
        </p:txBody>
      </p:sp>
      <p:sp>
        <p:nvSpPr>
          <p:cNvPr id="3" name="Subtitle 2">
            <a:extLst>
              <a:ext uri="{FF2B5EF4-FFF2-40B4-BE49-F238E27FC236}">
                <a16:creationId xmlns:a16="http://schemas.microsoft.com/office/drawing/2014/main" id="{6426A65D-4CA8-E911-0153-1F5A297A8471}"/>
              </a:ext>
            </a:extLst>
          </p:cNvPr>
          <p:cNvSpPr>
            <a:spLocks noGrp="1"/>
          </p:cNvSpPr>
          <p:nvPr>
            <p:ph type="subTitle" idx="1"/>
          </p:nvPr>
        </p:nvSpPr>
        <p:spPr/>
        <p:txBody>
          <a:bodyPr/>
          <a:lstStyle/>
          <a:p>
            <a:r>
              <a:rPr lang="en-US" dirty="0"/>
              <a:t>System Design</a:t>
            </a:r>
          </a:p>
          <a:p>
            <a:r>
              <a:rPr lang="en-US" dirty="0"/>
              <a:t>Lynn Hoang</a:t>
            </a:r>
          </a:p>
        </p:txBody>
      </p:sp>
    </p:spTree>
    <p:extLst>
      <p:ext uri="{BB962C8B-B14F-4D97-AF65-F5344CB8AC3E}">
        <p14:creationId xmlns:p14="http://schemas.microsoft.com/office/powerpoint/2010/main" val="4266832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41EB6-64DE-CEFB-C324-262663C6B964}"/>
              </a:ext>
            </a:extLst>
          </p:cNvPr>
          <p:cNvSpPr>
            <a:spLocks noGrp="1"/>
          </p:cNvSpPr>
          <p:nvPr>
            <p:ph type="title"/>
          </p:nvPr>
        </p:nvSpPr>
        <p:spPr/>
        <p:txBody>
          <a:bodyPr/>
          <a:lstStyle/>
          <a:p>
            <a:r>
              <a:rPr lang="en-US" dirty="0"/>
              <a:t>Problem Statement</a:t>
            </a:r>
          </a:p>
        </p:txBody>
      </p:sp>
      <p:sp>
        <p:nvSpPr>
          <p:cNvPr id="4" name="TextBox 3">
            <a:extLst>
              <a:ext uri="{FF2B5EF4-FFF2-40B4-BE49-F238E27FC236}">
                <a16:creationId xmlns:a16="http://schemas.microsoft.com/office/drawing/2014/main" id="{130F3937-8366-431F-928F-C0B2BF8FC745}"/>
              </a:ext>
            </a:extLst>
          </p:cNvPr>
          <p:cNvSpPr txBox="1"/>
          <p:nvPr/>
        </p:nvSpPr>
        <p:spPr>
          <a:xfrm>
            <a:off x="677333" y="1499488"/>
            <a:ext cx="8679317" cy="1205458"/>
          </a:xfrm>
          <a:prstGeom prst="rect">
            <a:avLst/>
          </a:prstGeom>
          <a:noFill/>
        </p:spPr>
        <p:txBody>
          <a:bodyPr wrap="square">
            <a:spAutoFit/>
          </a:bodyPr>
          <a:lstStyle/>
          <a:p>
            <a:pPr marL="285750" indent="-285750">
              <a:spcBef>
                <a:spcPts val="1100"/>
              </a:spcBef>
              <a:buFont typeface="Arial" panose="020B0604020202020204" pitchFamily="34" charset="0"/>
              <a:buChar char="•"/>
            </a:pPr>
            <a:r>
              <a:rPr lang="en-US" dirty="0"/>
              <a:t>Desktop app deployed across enterprise endpoints</a:t>
            </a:r>
          </a:p>
          <a:p>
            <a:pPr marL="285750" indent="-285750">
              <a:spcBef>
                <a:spcPts val="1100"/>
              </a:spcBef>
              <a:buFont typeface="Arial" panose="020B0604020202020204" pitchFamily="34" charset="0"/>
              <a:buChar char="•"/>
            </a:pPr>
            <a:r>
              <a:rPr lang="en-US" dirty="0"/>
              <a:t>No direct access to customer machines for troubleshooting</a:t>
            </a:r>
          </a:p>
          <a:p>
            <a:pPr marL="285750" indent="-285750">
              <a:spcBef>
                <a:spcPts val="1100"/>
              </a:spcBef>
              <a:buFont typeface="Arial" panose="020B0604020202020204" pitchFamily="34" charset="0"/>
              <a:buChar char="•"/>
            </a:pPr>
            <a:r>
              <a:rPr lang="en-US" dirty="0"/>
              <a:t>Need to automate troubleshooting at scale</a:t>
            </a:r>
          </a:p>
        </p:txBody>
      </p:sp>
      <p:sp>
        <p:nvSpPr>
          <p:cNvPr id="6" name="TextBox 5">
            <a:extLst>
              <a:ext uri="{FF2B5EF4-FFF2-40B4-BE49-F238E27FC236}">
                <a16:creationId xmlns:a16="http://schemas.microsoft.com/office/drawing/2014/main" id="{EEE690CD-3921-9107-B8B8-90DE46A6B7BD}"/>
              </a:ext>
            </a:extLst>
          </p:cNvPr>
          <p:cNvSpPr txBox="1"/>
          <p:nvPr/>
        </p:nvSpPr>
        <p:spPr>
          <a:xfrm>
            <a:off x="677332" y="3195085"/>
            <a:ext cx="9129607" cy="3295774"/>
          </a:xfrm>
          <a:prstGeom prst="rect">
            <a:avLst/>
          </a:prstGeom>
          <a:noFill/>
        </p:spPr>
        <p:txBody>
          <a:bodyPr wrap="square">
            <a:spAutoFit/>
          </a:bodyPr>
          <a:lstStyle/>
          <a:p>
            <a:r>
              <a:rPr lang="en-US" b="1" dirty="0"/>
              <a:t>Goals</a:t>
            </a:r>
            <a:endParaRPr lang="en-US" dirty="0"/>
          </a:p>
          <a:p>
            <a:pPr marL="285750" indent="-285750">
              <a:spcBef>
                <a:spcPts val="1100"/>
              </a:spcBef>
              <a:buFont typeface="Arial" panose="020B0604020202020204" pitchFamily="34" charset="0"/>
              <a:buChar char="•"/>
            </a:pPr>
            <a:r>
              <a:rPr lang="en-US" dirty="0"/>
              <a:t>Solution works for any app</a:t>
            </a:r>
          </a:p>
          <a:p>
            <a:pPr marL="285750" indent="-285750">
              <a:spcBef>
                <a:spcPts val="1100"/>
              </a:spcBef>
              <a:buFont typeface="Arial" panose="020B0604020202020204" pitchFamily="34" charset="0"/>
              <a:buChar char="•"/>
            </a:pPr>
            <a:r>
              <a:rPr lang="en-US" dirty="0"/>
              <a:t>Smart log collection</a:t>
            </a:r>
          </a:p>
          <a:p>
            <a:pPr marL="285750" indent="-285750">
              <a:spcBef>
                <a:spcPts val="1100"/>
              </a:spcBef>
              <a:buFont typeface="Arial" panose="020B0604020202020204" pitchFamily="34" charset="0"/>
              <a:buChar char="•"/>
            </a:pPr>
            <a:r>
              <a:rPr lang="en-US" dirty="0"/>
              <a:t>Smart diagnostics for unknown failures</a:t>
            </a:r>
          </a:p>
          <a:p>
            <a:pPr marL="285750" indent="-285750">
              <a:spcBef>
                <a:spcPts val="1100"/>
              </a:spcBef>
              <a:buFont typeface="Arial" panose="020B0604020202020204" pitchFamily="34" charset="0"/>
              <a:buChar char="•"/>
            </a:pPr>
            <a:r>
              <a:rPr lang="en-US" dirty="0"/>
              <a:t>Provide self-service resolutions</a:t>
            </a:r>
          </a:p>
          <a:p>
            <a:pPr marL="742950" lvl="1" indent="-285750">
              <a:spcBef>
                <a:spcPts val="1100"/>
              </a:spcBef>
              <a:buFont typeface="Arial" panose="020B0604020202020204" pitchFamily="34" charset="0"/>
              <a:buChar char="•"/>
            </a:pPr>
            <a:r>
              <a:rPr lang="en-US" dirty="0"/>
              <a:t>Self-service for enterprise admins, not auto-remediation</a:t>
            </a:r>
          </a:p>
          <a:p>
            <a:pPr marL="742950" lvl="1" indent="-285750">
              <a:spcBef>
                <a:spcPts val="1100"/>
              </a:spcBef>
              <a:buFont typeface="Arial" panose="020B0604020202020204" pitchFamily="34" charset="0"/>
              <a:buChar char="•"/>
            </a:pPr>
            <a:r>
              <a:rPr lang="en-US" dirty="0"/>
              <a:t>System provides actionable resolution; admin approves and coordinates rollout</a:t>
            </a:r>
          </a:p>
          <a:p>
            <a:pPr marL="285750" indent="-285750">
              <a:spcBef>
                <a:spcPts val="1100"/>
              </a:spcBef>
              <a:buFont typeface="Arial" panose="020B0604020202020204" pitchFamily="34" charset="0"/>
              <a:buChar char="•"/>
            </a:pPr>
            <a:endParaRPr lang="en-US" dirty="0"/>
          </a:p>
        </p:txBody>
      </p:sp>
    </p:spTree>
    <p:extLst>
      <p:ext uri="{BB962C8B-B14F-4D97-AF65-F5344CB8AC3E}">
        <p14:creationId xmlns:p14="http://schemas.microsoft.com/office/powerpoint/2010/main" val="2247287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F8DEF-2B5A-AAC5-D31A-DB48A1D741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278642-6B3E-E994-3541-2780EB1CDEB7}"/>
              </a:ext>
            </a:extLst>
          </p:cNvPr>
          <p:cNvSpPr>
            <a:spLocks noGrp="1"/>
          </p:cNvSpPr>
          <p:nvPr>
            <p:ph type="title"/>
          </p:nvPr>
        </p:nvSpPr>
        <p:spPr/>
        <p:txBody>
          <a:bodyPr/>
          <a:lstStyle/>
          <a:p>
            <a:r>
              <a:rPr lang="en-US" dirty="0"/>
              <a:t>Users</a:t>
            </a:r>
          </a:p>
        </p:txBody>
      </p:sp>
      <p:graphicFrame>
        <p:nvGraphicFramePr>
          <p:cNvPr id="3" name="Table 2">
            <a:extLst>
              <a:ext uri="{FF2B5EF4-FFF2-40B4-BE49-F238E27FC236}">
                <a16:creationId xmlns:a16="http://schemas.microsoft.com/office/drawing/2014/main" id="{382F38C2-E0C2-1311-5164-FBA8A19A5326}"/>
              </a:ext>
            </a:extLst>
          </p:cNvPr>
          <p:cNvGraphicFramePr>
            <a:graphicFrameLocks noGrp="1"/>
          </p:cNvGraphicFramePr>
          <p:nvPr>
            <p:extLst>
              <p:ext uri="{D42A27DB-BD31-4B8C-83A1-F6EECF244321}">
                <p14:modId xmlns:p14="http://schemas.microsoft.com/office/powerpoint/2010/main" val="1515764697"/>
              </p:ext>
            </p:extLst>
          </p:nvPr>
        </p:nvGraphicFramePr>
        <p:xfrm>
          <a:off x="779975" y="2084232"/>
          <a:ext cx="8128000" cy="1483360"/>
        </p:xfrm>
        <a:graphic>
          <a:graphicData uri="http://schemas.openxmlformats.org/drawingml/2006/table">
            <a:tbl>
              <a:tblPr firstRow="1" bandRow="1">
                <a:tableStyleId>{5C22544A-7EE6-4342-B048-85BDC9FD1C3A}</a:tableStyleId>
              </a:tblPr>
              <a:tblGrid>
                <a:gridCol w="2568136">
                  <a:extLst>
                    <a:ext uri="{9D8B030D-6E8A-4147-A177-3AD203B41FA5}">
                      <a16:colId xmlns:a16="http://schemas.microsoft.com/office/drawing/2014/main" val="844852940"/>
                    </a:ext>
                  </a:extLst>
                </a:gridCol>
                <a:gridCol w="5559864">
                  <a:extLst>
                    <a:ext uri="{9D8B030D-6E8A-4147-A177-3AD203B41FA5}">
                      <a16:colId xmlns:a16="http://schemas.microsoft.com/office/drawing/2014/main" val="415638436"/>
                    </a:ext>
                  </a:extLst>
                </a:gridCol>
              </a:tblGrid>
              <a:tr h="370840">
                <a:tc>
                  <a:txBody>
                    <a:bodyPr/>
                    <a:lstStyle/>
                    <a:p>
                      <a:r>
                        <a:rPr lang="en-US" dirty="0"/>
                        <a:t>User</a:t>
                      </a:r>
                    </a:p>
                  </a:txBody>
                  <a:tcPr/>
                </a:tc>
                <a:tc>
                  <a:txBody>
                    <a:bodyPr/>
                    <a:lstStyle/>
                    <a:p>
                      <a:r>
                        <a:rPr lang="en-US" dirty="0"/>
                        <a:t>Role</a:t>
                      </a:r>
                    </a:p>
                  </a:txBody>
                  <a:tcPr/>
                </a:tc>
                <a:extLst>
                  <a:ext uri="{0D108BD9-81ED-4DB2-BD59-A6C34878D82A}">
                    <a16:rowId xmlns:a16="http://schemas.microsoft.com/office/drawing/2014/main" val="1025707395"/>
                  </a:ext>
                </a:extLst>
              </a:tr>
              <a:tr h="370840">
                <a:tc>
                  <a:txBody>
                    <a:bodyPr/>
                    <a:lstStyle/>
                    <a:p>
                      <a:r>
                        <a:rPr lang="en-US" dirty="0"/>
                        <a:t>Enterprise Admins</a:t>
                      </a:r>
                    </a:p>
                  </a:txBody>
                  <a:tcPr/>
                </a:tc>
                <a:tc>
                  <a:txBody>
                    <a:bodyPr/>
                    <a:lstStyle/>
                    <a:p>
                      <a:r>
                        <a:rPr lang="en-US" dirty="0"/>
                        <a:t>Support their organization’s users</a:t>
                      </a:r>
                    </a:p>
                  </a:txBody>
                  <a:tcPr/>
                </a:tc>
                <a:extLst>
                  <a:ext uri="{0D108BD9-81ED-4DB2-BD59-A6C34878D82A}">
                    <a16:rowId xmlns:a16="http://schemas.microsoft.com/office/drawing/2014/main" val="1674937371"/>
                  </a:ext>
                </a:extLst>
              </a:tr>
              <a:tr h="370840">
                <a:tc>
                  <a:txBody>
                    <a:bodyPr/>
                    <a:lstStyle/>
                    <a:p>
                      <a:r>
                        <a:rPr lang="en-US" dirty="0"/>
                        <a:t>Support Agents</a:t>
                      </a:r>
                    </a:p>
                  </a:txBody>
                  <a:tcPr/>
                </a:tc>
                <a:tc>
                  <a:txBody>
                    <a:bodyPr/>
                    <a:lstStyle/>
                    <a:p>
                      <a:r>
                        <a:rPr lang="en-US" dirty="0"/>
                        <a:t>Support enterprises who use products</a:t>
                      </a:r>
                    </a:p>
                  </a:txBody>
                  <a:tcPr/>
                </a:tc>
                <a:extLst>
                  <a:ext uri="{0D108BD9-81ED-4DB2-BD59-A6C34878D82A}">
                    <a16:rowId xmlns:a16="http://schemas.microsoft.com/office/drawing/2014/main" val="1745644750"/>
                  </a:ext>
                </a:extLst>
              </a:tr>
              <a:tr h="370840">
                <a:tc>
                  <a:txBody>
                    <a:bodyPr/>
                    <a:lstStyle/>
                    <a:p>
                      <a:r>
                        <a:rPr lang="en-US" dirty="0"/>
                        <a:t>Engineers</a:t>
                      </a:r>
                    </a:p>
                  </a:txBody>
                  <a:tcPr/>
                </a:tc>
                <a:tc>
                  <a:txBody>
                    <a:bodyPr/>
                    <a:lstStyle/>
                    <a:p>
                      <a:r>
                        <a:rPr lang="en-US" dirty="0"/>
                        <a:t>Develop products, analyze issues, deploy fixes</a:t>
                      </a:r>
                    </a:p>
                  </a:txBody>
                  <a:tcPr/>
                </a:tc>
                <a:extLst>
                  <a:ext uri="{0D108BD9-81ED-4DB2-BD59-A6C34878D82A}">
                    <a16:rowId xmlns:a16="http://schemas.microsoft.com/office/drawing/2014/main" val="3335799948"/>
                  </a:ext>
                </a:extLst>
              </a:tr>
            </a:tbl>
          </a:graphicData>
        </a:graphic>
      </p:graphicFrame>
    </p:spTree>
    <p:extLst>
      <p:ext uri="{BB962C8B-B14F-4D97-AF65-F5344CB8AC3E}">
        <p14:creationId xmlns:p14="http://schemas.microsoft.com/office/powerpoint/2010/main" val="530787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B9E82-0410-1561-BFD3-9283220BE1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552B8C-9404-E6C8-CA05-88B5CBA4D7D5}"/>
              </a:ext>
            </a:extLst>
          </p:cNvPr>
          <p:cNvSpPr>
            <a:spLocks noGrp="1"/>
          </p:cNvSpPr>
          <p:nvPr>
            <p:ph type="title"/>
          </p:nvPr>
        </p:nvSpPr>
        <p:spPr/>
        <p:txBody>
          <a:bodyPr/>
          <a:lstStyle/>
          <a:p>
            <a:r>
              <a:rPr lang="en-US" dirty="0"/>
              <a:t>System Components</a:t>
            </a:r>
          </a:p>
        </p:txBody>
      </p:sp>
      <p:sp>
        <p:nvSpPr>
          <p:cNvPr id="13" name="TextBox 12">
            <a:extLst>
              <a:ext uri="{FF2B5EF4-FFF2-40B4-BE49-F238E27FC236}">
                <a16:creationId xmlns:a16="http://schemas.microsoft.com/office/drawing/2014/main" id="{B3F25DC7-E63A-0ED6-A885-776F2B8BA963}"/>
              </a:ext>
            </a:extLst>
          </p:cNvPr>
          <p:cNvSpPr txBox="1"/>
          <p:nvPr/>
        </p:nvSpPr>
        <p:spPr>
          <a:xfrm>
            <a:off x="677334" y="1598485"/>
            <a:ext cx="8935296" cy="4078039"/>
          </a:xfrm>
          <a:prstGeom prst="rect">
            <a:avLst/>
          </a:prstGeom>
          <a:noFill/>
        </p:spPr>
        <p:txBody>
          <a:bodyPr wrap="square">
            <a:spAutoFit/>
          </a:bodyPr>
          <a:lstStyle/>
          <a:p>
            <a:pPr>
              <a:spcBef>
                <a:spcPts val="1000"/>
              </a:spcBef>
            </a:pPr>
            <a:r>
              <a:rPr lang="en-US" b="1" dirty="0"/>
              <a:t>Logs Agent Client</a:t>
            </a:r>
            <a:endParaRPr lang="en-US" dirty="0"/>
          </a:p>
          <a:p>
            <a:pPr marL="285750" indent="-285750">
              <a:spcBef>
                <a:spcPts val="1000"/>
              </a:spcBef>
              <a:buFont typeface="Arial" panose="020B0604020202020204" pitchFamily="34" charset="0"/>
              <a:buChar char="•"/>
            </a:pPr>
            <a:r>
              <a:rPr lang="en-US" sz="1600" dirty="0"/>
              <a:t>Collects, pre-processes, and sends logs to backend services for analysis</a:t>
            </a:r>
          </a:p>
          <a:p>
            <a:pPr>
              <a:spcBef>
                <a:spcPts val="1000"/>
              </a:spcBef>
            </a:pPr>
            <a:br>
              <a:rPr lang="en-US" b="1" dirty="0"/>
            </a:br>
            <a:r>
              <a:rPr lang="en-US" b="1" dirty="0"/>
              <a:t>Backend Service</a:t>
            </a:r>
          </a:p>
          <a:p>
            <a:pPr marL="285750" indent="-285750">
              <a:spcBef>
                <a:spcPts val="1000"/>
              </a:spcBef>
              <a:buFont typeface="Arial" panose="020B0604020202020204" pitchFamily="34" charset="0"/>
              <a:buChar char="•"/>
            </a:pPr>
            <a:r>
              <a:rPr lang="en-US" sz="1600" dirty="0"/>
              <a:t>Ingests, processes, and analyzes logs to identify issues</a:t>
            </a:r>
          </a:p>
          <a:p>
            <a:pPr marL="285750" indent="-285750">
              <a:spcBef>
                <a:spcPts val="1000"/>
              </a:spcBef>
              <a:buFont typeface="Arial" panose="020B0604020202020204" pitchFamily="34" charset="0"/>
              <a:buChar char="•"/>
            </a:pPr>
            <a:r>
              <a:rPr lang="en-US" sz="1600" dirty="0"/>
              <a:t>Create tickets, request clients for more logs, generate resolutions</a:t>
            </a:r>
          </a:p>
          <a:p>
            <a:pPr marL="285750" indent="-285750">
              <a:spcBef>
                <a:spcPts val="1000"/>
              </a:spcBef>
              <a:buFont typeface="Arial" panose="020B0604020202020204" pitchFamily="34" charset="0"/>
              <a:buChar char="•"/>
            </a:pPr>
            <a:r>
              <a:rPr lang="en-US" sz="1600" dirty="0"/>
              <a:t>Notify enterprise admins on resolution</a:t>
            </a:r>
          </a:p>
          <a:p>
            <a:pPr marL="285750" indent="-285750">
              <a:spcBef>
                <a:spcPts val="1000"/>
              </a:spcBef>
              <a:buFont typeface="Arial" panose="020B0604020202020204" pitchFamily="34" charset="0"/>
              <a:buChar char="•"/>
            </a:pPr>
            <a:endParaRPr lang="en-US" sz="1600" dirty="0"/>
          </a:p>
          <a:p>
            <a:pPr>
              <a:spcBef>
                <a:spcPts val="1000"/>
              </a:spcBef>
            </a:pPr>
            <a:r>
              <a:rPr lang="en-US" b="1" dirty="0"/>
              <a:t>Portal</a:t>
            </a:r>
          </a:p>
          <a:p>
            <a:pPr marL="285750" indent="-285750">
              <a:spcBef>
                <a:spcPts val="1000"/>
              </a:spcBef>
              <a:buFont typeface="Arial" panose="020B0604020202020204" pitchFamily="34" charset="0"/>
              <a:buChar char="•"/>
            </a:pPr>
            <a:r>
              <a:rPr lang="en-US" sz="1600" dirty="0"/>
              <a:t>Enterprise admins view their own issues, status, dashboard</a:t>
            </a:r>
          </a:p>
          <a:p>
            <a:pPr marL="285750" indent="-285750">
              <a:spcBef>
                <a:spcPts val="1000"/>
              </a:spcBef>
              <a:buFont typeface="Arial" panose="020B0604020202020204" pitchFamily="34" charset="0"/>
              <a:buChar char="•"/>
            </a:pPr>
            <a:r>
              <a:rPr lang="en-US" sz="1600" dirty="0"/>
              <a:t>Support agents and engineers view issues of all enterprises and internal data</a:t>
            </a:r>
          </a:p>
        </p:txBody>
      </p:sp>
    </p:spTree>
    <p:extLst>
      <p:ext uri="{BB962C8B-B14F-4D97-AF65-F5344CB8AC3E}">
        <p14:creationId xmlns:p14="http://schemas.microsoft.com/office/powerpoint/2010/main" val="113673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61DA6-D019-8F37-DCA3-44CEC3A80F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4A878E-ED8D-F175-C9D7-2926306FD5BC}"/>
              </a:ext>
            </a:extLst>
          </p:cNvPr>
          <p:cNvSpPr>
            <a:spLocks noGrp="1"/>
          </p:cNvSpPr>
          <p:nvPr>
            <p:ph type="title"/>
          </p:nvPr>
        </p:nvSpPr>
        <p:spPr/>
        <p:txBody>
          <a:bodyPr/>
          <a:lstStyle/>
          <a:p>
            <a:r>
              <a:rPr lang="en-US" dirty="0"/>
              <a:t>Functional Requirements</a:t>
            </a:r>
          </a:p>
        </p:txBody>
      </p:sp>
      <p:sp>
        <p:nvSpPr>
          <p:cNvPr id="4" name="TextBox 3">
            <a:extLst>
              <a:ext uri="{FF2B5EF4-FFF2-40B4-BE49-F238E27FC236}">
                <a16:creationId xmlns:a16="http://schemas.microsoft.com/office/drawing/2014/main" id="{CEA22FEA-A45C-69D5-19B3-7C93AF91DD99}"/>
              </a:ext>
            </a:extLst>
          </p:cNvPr>
          <p:cNvSpPr txBox="1"/>
          <p:nvPr/>
        </p:nvSpPr>
        <p:spPr>
          <a:xfrm>
            <a:off x="677333" y="1347596"/>
            <a:ext cx="11097325" cy="5298886"/>
          </a:xfrm>
          <a:prstGeom prst="rect">
            <a:avLst/>
          </a:prstGeom>
          <a:noFill/>
        </p:spPr>
        <p:txBody>
          <a:bodyPr wrap="square">
            <a:spAutoFit/>
          </a:bodyPr>
          <a:lstStyle/>
          <a:p>
            <a:pPr>
              <a:spcBef>
                <a:spcPts val="1000"/>
              </a:spcBef>
            </a:pPr>
            <a:r>
              <a:rPr lang="en-US" b="1" dirty="0"/>
              <a:t>Logs Agent Client</a:t>
            </a:r>
          </a:p>
          <a:p>
            <a:pPr marL="285750" indent="-285750">
              <a:spcBef>
                <a:spcPts val="1000"/>
              </a:spcBef>
              <a:buFont typeface="Arial" panose="020B0604020202020204" pitchFamily="34" charset="0"/>
              <a:buChar char="•"/>
            </a:pPr>
            <a:r>
              <a:rPr lang="en-US" sz="1600" dirty="0"/>
              <a:t>Detect issues</a:t>
            </a:r>
          </a:p>
          <a:p>
            <a:pPr marL="285750" indent="-285750">
              <a:spcBef>
                <a:spcPts val="1000"/>
              </a:spcBef>
              <a:buFont typeface="Arial" panose="020B0604020202020204" pitchFamily="34" charset="0"/>
              <a:buChar char="•"/>
            </a:pPr>
            <a:r>
              <a:rPr lang="en-US" sz="1600" dirty="0"/>
              <a:t>Collect relevant logs, classify issues (crash vs. hang vs. general issues)</a:t>
            </a:r>
          </a:p>
          <a:p>
            <a:pPr marL="285750" indent="-285750">
              <a:spcBef>
                <a:spcPts val="1000"/>
              </a:spcBef>
              <a:buFont typeface="Arial" panose="020B0604020202020204" pitchFamily="34" charset="0"/>
              <a:buChar char="•"/>
            </a:pPr>
            <a:r>
              <a:rPr lang="en-US" sz="1600" dirty="0">
                <a:solidFill>
                  <a:srgbClr val="0070C0"/>
                </a:solidFill>
              </a:rPr>
              <a:t>Collect additional logs as requested by Backend Service</a:t>
            </a:r>
          </a:p>
          <a:p>
            <a:pPr marL="285750" indent="-285750">
              <a:spcBef>
                <a:spcPts val="1000"/>
              </a:spcBef>
              <a:buFont typeface="Arial" panose="020B0604020202020204" pitchFamily="34" charset="0"/>
              <a:buChar char="•"/>
            </a:pPr>
            <a:r>
              <a:rPr lang="en-US" sz="1600" dirty="0"/>
              <a:t>Scrub PII</a:t>
            </a:r>
          </a:p>
          <a:p>
            <a:pPr marL="285750" indent="-285750">
              <a:spcBef>
                <a:spcPts val="1000"/>
              </a:spcBef>
              <a:buFont typeface="Arial" panose="020B0604020202020204" pitchFamily="34" charset="0"/>
              <a:buChar char="•"/>
            </a:pPr>
            <a:r>
              <a:rPr lang="en-US" sz="1600" dirty="0"/>
              <a:t>Send logs to Backend Service</a:t>
            </a:r>
          </a:p>
          <a:p>
            <a:pPr>
              <a:spcBef>
                <a:spcPts val="1000"/>
              </a:spcBef>
            </a:pPr>
            <a:r>
              <a:rPr lang="en-US" b="1" dirty="0"/>
              <a:t>Backend Service</a:t>
            </a:r>
          </a:p>
          <a:p>
            <a:pPr marL="285750" indent="-285750">
              <a:spcBef>
                <a:spcPts val="1000"/>
              </a:spcBef>
              <a:buFont typeface="Arial" panose="020B0604020202020204" pitchFamily="34" charset="0"/>
              <a:buChar char="•"/>
            </a:pPr>
            <a:r>
              <a:rPr lang="en-US" sz="1600" dirty="0"/>
              <a:t>Validate and normalize logs</a:t>
            </a:r>
          </a:p>
          <a:p>
            <a:pPr marL="285750" indent="-285750">
              <a:spcBef>
                <a:spcPts val="1000"/>
              </a:spcBef>
              <a:buFont typeface="Arial" panose="020B0604020202020204" pitchFamily="34" charset="0"/>
              <a:buChar char="•"/>
            </a:pPr>
            <a:r>
              <a:rPr lang="en-US" sz="1600" dirty="0"/>
              <a:t>Orchestrate log processing pipeline: analyze logs, create issue tickets, provide solutions or </a:t>
            </a:r>
            <a:r>
              <a:rPr lang="en-US" sz="1600" dirty="0">
                <a:solidFill>
                  <a:srgbClr val="0070C0"/>
                </a:solidFill>
              </a:rPr>
              <a:t>ask for additional logs</a:t>
            </a:r>
          </a:p>
          <a:p>
            <a:pPr marL="285750" indent="-285750">
              <a:spcBef>
                <a:spcPts val="1000"/>
              </a:spcBef>
              <a:buFont typeface="Arial" panose="020B0604020202020204" pitchFamily="34" charset="0"/>
              <a:buChar char="•"/>
            </a:pPr>
            <a:r>
              <a:rPr lang="en-US" sz="1600" dirty="0">
                <a:solidFill>
                  <a:srgbClr val="0070C0"/>
                </a:solidFill>
              </a:rPr>
              <a:t>Send notification on issues resolved or configs updated</a:t>
            </a:r>
          </a:p>
          <a:p>
            <a:pPr marL="285750" indent="-285750">
              <a:spcBef>
                <a:spcPts val="1000"/>
              </a:spcBef>
              <a:buFont typeface="Arial" panose="020B0604020202020204" pitchFamily="34" charset="0"/>
              <a:buChar char="•"/>
            </a:pPr>
            <a:r>
              <a:rPr lang="en-US" sz="1600" dirty="0"/>
              <a:t>Service to Portal</a:t>
            </a:r>
          </a:p>
          <a:p>
            <a:pPr>
              <a:spcBef>
                <a:spcPts val="1000"/>
              </a:spcBef>
            </a:pPr>
            <a:r>
              <a:rPr lang="en-US" b="1" dirty="0"/>
              <a:t>Portal</a:t>
            </a:r>
          </a:p>
          <a:p>
            <a:pPr marL="285750" indent="-285750">
              <a:spcBef>
                <a:spcPts val="1000"/>
              </a:spcBef>
              <a:buFont typeface="Arial" panose="020B0604020202020204" pitchFamily="34" charset="0"/>
              <a:buChar char="•"/>
            </a:pPr>
            <a:r>
              <a:rPr lang="en-US" sz="1600" dirty="0"/>
              <a:t>Allow Enterprise Admins to manage their issues and configurations and </a:t>
            </a:r>
            <a:r>
              <a:rPr lang="en-US" sz="1600" dirty="0">
                <a:solidFill>
                  <a:srgbClr val="0070C0"/>
                </a:solidFill>
              </a:rPr>
              <a:t>push changes to their users</a:t>
            </a:r>
            <a:r>
              <a:rPr lang="en-US" sz="1600" dirty="0"/>
              <a:t>.</a:t>
            </a:r>
          </a:p>
          <a:p>
            <a:pPr marL="285750" indent="-285750">
              <a:spcBef>
                <a:spcPts val="1000"/>
              </a:spcBef>
              <a:buFont typeface="Arial" panose="020B0604020202020204" pitchFamily="34" charset="0"/>
              <a:buChar char="•"/>
            </a:pPr>
            <a:r>
              <a:rPr lang="en-US" sz="1600" dirty="0"/>
              <a:t>Allow Support Agents/Engineers to manage all issues and internal data.</a:t>
            </a:r>
          </a:p>
        </p:txBody>
      </p:sp>
    </p:spTree>
    <p:extLst>
      <p:ext uri="{BB962C8B-B14F-4D97-AF65-F5344CB8AC3E}">
        <p14:creationId xmlns:p14="http://schemas.microsoft.com/office/powerpoint/2010/main" val="782769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975F4-3BA1-A579-2C8E-54193743124D}"/>
              </a:ext>
            </a:extLst>
          </p:cNvPr>
          <p:cNvSpPr>
            <a:spLocks noGrp="1"/>
          </p:cNvSpPr>
          <p:nvPr>
            <p:ph type="title"/>
          </p:nvPr>
        </p:nvSpPr>
        <p:spPr/>
        <p:txBody>
          <a:bodyPr/>
          <a:lstStyle/>
          <a:p>
            <a:r>
              <a:rPr lang="en-US" dirty="0"/>
              <a:t>Non-Functional Requirements</a:t>
            </a:r>
          </a:p>
        </p:txBody>
      </p:sp>
      <p:sp>
        <p:nvSpPr>
          <p:cNvPr id="4" name="TextBox 3">
            <a:extLst>
              <a:ext uri="{FF2B5EF4-FFF2-40B4-BE49-F238E27FC236}">
                <a16:creationId xmlns:a16="http://schemas.microsoft.com/office/drawing/2014/main" id="{A697C400-5EBF-B90A-F371-C5DD92F6EC30}"/>
              </a:ext>
            </a:extLst>
          </p:cNvPr>
          <p:cNvSpPr txBox="1"/>
          <p:nvPr/>
        </p:nvSpPr>
        <p:spPr>
          <a:xfrm>
            <a:off x="677333" y="1347596"/>
            <a:ext cx="11139529" cy="5298886"/>
          </a:xfrm>
          <a:prstGeom prst="rect">
            <a:avLst/>
          </a:prstGeom>
          <a:noFill/>
        </p:spPr>
        <p:txBody>
          <a:bodyPr wrap="square">
            <a:spAutoFit/>
          </a:bodyPr>
          <a:lstStyle/>
          <a:p>
            <a:pPr>
              <a:spcBef>
                <a:spcPts val="1000"/>
              </a:spcBef>
            </a:pPr>
            <a:r>
              <a:rPr lang="en-US" b="1" dirty="0"/>
              <a:t>Logs Agent Client</a:t>
            </a:r>
          </a:p>
          <a:p>
            <a:pPr marL="285750" indent="-285750">
              <a:spcBef>
                <a:spcPts val="1000"/>
              </a:spcBef>
              <a:buFont typeface="Arial" panose="020B0604020202020204" pitchFamily="34" charset="0"/>
              <a:buChar char="•"/>
            </a:pPr>
            <a:r>
              <a:rPr lang="en-US" sz="1600" dirty="0"/>
              <a:t>Prioritize sending crash/hang logs over general issue logs</a:t>
            </a:r>
          </a:p>
          <a:p>
            <a:pPr marL="285750" indent="-285750">
              <a:spcBef>
                <a:spcPts val="1000"/>
              </a:spcBef>
              <a:buFont typeface="Arial" panose="020B0604020202020204" pitchFamily="34" charset="0"/>
              <a:buChar char="•"/>
            </a:pPr>
            <a:r>
              <a:rPr lang="en-US" sz="1600" dirty="0"/>
              <a:t>Queue logs locally when offline</a:t>
            </a:r>
          </a:p>
          <a:p>
            <a:pPr marL="285750" indent="-285750">
              <a:spcBef>
                <a:spcPts val="1000"/>
              </a:spcBef>
              <a:buFont typeface="Arial" panose="020B0604020202020204" pitchFamily="34" charset="0"/>
              <a:buChar char="•"/>
            </a:pPr>
            <a:r>
              <a:rPr lang="en-US" sz="1600" dirty="0"/>
              <a:t>Support resumable uploads</a:t>
            </a:r>
          </a:p>
          <a:p>
            <a:pPr marL="285750" indent="-285750">
              <a:spcBef>
                <a:spcPts val="1000"/>
              </a:spcBef>
              <a:buFont typeface="Arial" panose="020B0604020202020204" pitchFamily="34" charset="0"/>
              <a:buChar char="•"/>
            </a:pPr>
            <a:r>
              <a:rPr lang="en-US" sz="1600" dirty="0"/>
              <a:t>Log collection must not degrade system performance</a:t>
            </a:r>
          </a:p>
          <a:p>
            <a:pPr>
              <a:spcBef>
                <a:spcPts val="1000"/>
              </a:spcBef>
            </a:pPr>
            <a:r>
              <a:rPr lang="en-US" b="1" dirty="0"/>
              <a:t>Backend Service</a:t>
            </a:r>
          </a:p>
          <a:p>
            <a:pPr marL="285750" indent="-285750">
              <a:spcBef>
                <a:spcPts val="1000"/>
              </a:spcBef>
              <a:buFont typeface="Arial" panose="020B0604020202020204" pitchFamily="34" charset="0"/>
              <a:buChar char="•"/>
            </a:pPr>
            <a:r>
              <a:rPr lang="en-US" sz="1600" dirty="0"/>
              <a:t>Authentication/Authorization</a:t>
            </a:r>
          </a:p>
          <a:p>
            <a:pPr marL="742950" lvl="1" indent="-285750">
              <a:spcBef>
                <a:spcPts val="1000"/>
              </a:spcBef>
              <a:buFont typeface="Arial" panose="020B0604020202020204" pitchFamily="34" charset="0"/>
              <a:buChar char="•"/>
            </a:pPr>
            <a:r>
              <a:rPr lang="en-US" sz="1600" dirty="0"/>
              <a:t>Only authenticated users are allowed to access data they are authorized to view.</a:t>
            </a:r>
          </a:p>
          <a:p>
            <a:pPr marL="285750" indent="-285750">
              <a:spcBef>
                <a:spcPts val="1000"/>
              </a:spcBef>
              <a:buFont typeface="Arial" panose="020B0604020202020204" pitchFamily="34" charset="0"/>
              <a:buChar char="•"/>
            </a:pPr>
            <a:r>
              <a:rPr lang="en-US" sz="1600" dirty="0"/>
              <a:t>Scalability: handle burst traffic (e.g., on app or OS updates)</a:t>
            </a:r>
          </a:p>
          <a:p>
            <a:pPr marL="285750" indent="-285750">
              <a:spcBef>
                <a:spcPts val="1000"/>
              </a:spcBef>
              <a:buFont typeface="Arial" panose="020B0604020202020204" pitchFamily="34" charset="0"/>
              <a:buChar char="•"/>
            </a:pPr>
            <a:r>
              <a:rPr lang="en-US" sz="1600" dirty="0"/>
              <a:t>Strong consistency: Need all logs before debugging</a:t>
            </a:r>
          </a:p>
          <a:p>
            <a:pPr marL="285750" indent="-285750">
              <a:spcBef>
                <a:spcPts val="1000"/>
              </a:spcBef>
              <a:buFont typeface="Arial" panose="020B0604020202020204" pitchFamily="34" charset="0"/>
              <a:buChar char="•"/>
            </a:pPr>
            <a:r>
              <a:rPr lang="en-US" sz="1600" dirty="0"/>
              <a:t>Security: Protection against abuse</a:t>
            </a:r>
          </a:p>
          <a:p>
            <a:pPr>
              <a:spcBef>
                <a:spcPts val="1000"/>
              </a:spcBef>
            </a:pPr>
            <a:r>
              <a:rPr lang="en-US" b="1" dirty="0"/>
              <a:t>Portal</a:t>
            </a:r>
          </a:p>
          <a:p>
            <a:pPr marL="285750" indent="-285750">
              <a:spcBef>
                <a:spcPts val="1000"/>
              </a:spcBef>
              <a:buFont typeface="Arial" panose="020B0604020202020204" pitchFamily="34" charset="0"/>
              <a:buChar char="•"/>
            </a:pPr>
            <a:r>
              <a:rPr lang="en-US" sz="1600" dirty="0"/>
              <a:t>High availability</a:t>
            </a:r>
          </a:p>
          <a:p>
            <a:pPr marL="285750" indent="-285750">
              <a:spcBef>
                <a:spcPts val="1000"/>
              </a:spcBef>
              <a:buFont typeface="Arial" panose="020B0604020202020204" pitchFamily="34" charset="0"/>
              <a:buChar char="•"/>
            </a:pPr>
            <a:r>
              <a:rPr lang="en-US" sz="1600" dirty="0"/>
              <a:t>Fast dashboard and search response time</a:t>
            </a:r>
          </a:p>
        </p:txBody>
      </p:sp>
    </p:spTree>
    <p:extLst>
      <p:ext uri="{BB962C8B-B14F-4D97-AF65-F5344CB8AC3E}">
        <p14:creationId xmlns:p14="http://schemas.microsoft.com/office/powerpoint/2010/main" val="241825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21F88-693D-195C-6933-FD806F9FA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B63143-C3E2-B5B2-B089-01E7F47F1641}"/>
              </a:ext>
            </a:extLst>
          </p:cNvPr>
          <p:cNvSpPr>
            <a:spLocks noGrp="1"/>
          </p:cNvSpPr>
          <p:nvPr>
            <p:ph type="title"/>
          </p:nvPr>
        </p:nvSpPr>
        <p:spPr/>
        <p:txBody>
          <a:bodyPr/>
          <a:lstStyle/>
          <a:p>
            <a:r>
              <a:rPr lang="en-US" dirty="0"/>
              <a:t>Scale Considerations</a:t>
            </a:r>
          </a:p>
        </p:txBody>
      </p:sp>
      <p:sp>
        <p:nvSpPr>
          <p:cNvPr id="4" name="TextBox 3">
            <a:extLst>
              <a:ext uri="{FF2B5EF4-FFF2-40B4-BE49-F238E27FC236}">
                <a16:creationId xmlns:a16="http://schemas.microsoft.com/office/drawing/2014/main" id="{0F9090DC-1A8C-8A87-DD5A-1F47E4C09EA4}"/>
              </a:ext>
            </a:extLst>
          </p:cNvPr>
          <p:cNvSpPr txBox="1"/>
          <p:nvPr/>
        </p:nvSpPr>
        <p:spPr>
          <a:xfrm>
            <a:off x="677334" y="1532422"/>
            <a:ext cx="11139529" cy="1087477"/>
          </a:xfrm>
          <a:prstGeom prst="rect">
            <a:avLst/>
          </a:prstGeom>
          <a:noFill/>
        </p:spPr>
        <p:txBody>
          <a:bodyPr wrap="square">
            <a:spAutoFit/>
          </a:bodyPr>
          <a:lstStyle/>
          <a:p>
            <a:pPr marL="285750" indent="-285750">
              <a:spcBef>
                <a:spcPts val="1000"/>
              </a:spcBef>
              <a:buFont typeface="Arial" panose="020B0604020202020204" pitchFamily="34" charset="0"/>
              <a:buChar char="•"/>
            </a:pPr>
            <a:r>
              <a:rPr lang="en-US" sz="1600" dirty="0"/>
              <a:t>100K endpoints × 5 logs/day = 500K logs/day</a:t>
            </a:r>
          </a:p>
          <a:p>
            <a:pPr marL="285750" indent="-285750">
              <a:spcBef>
                <a:spcPts val="1000"/>
              </a:spcBef>
              <a:buFont typeface="Arial" panose="020B0604020202020204" pitchFamily="34" charset="0"/>
              <a:buChar char="•"/>
            </a:pPr>
            <a:r>
              <a:rPr lang="en-US" sz="1600" dirty="0"/>
              <a:t>Burst: OS update could 10x traffic in 1 hour</a:t>
            </a:r>
          </a:p>
          <a:p>
            <a:pPr marL="285750" indent="-285750">
              <a:spcBef>
                <a:spcPts val="1000"/>
              </a:spcBef>
              <a:buFont typeface="Arial" panose="020B0604020202020204" pitchFamily="34" charset="0"/>
              <a:buChar char="•"/>
            </a:pPr>
            <a:r>
              <a:rPr lang="en-US" sz="1600" dirty="0"/>
              <a:t>Queue absorbs spikes, auto-scaling backend workers</a:t>
            </a:r>
          </a:p>
        </p:txBody>
      </p:sp>
    </p:spTree>
    <p:extLst>
      <p:ext uri="{BB962C8B-B14F-4D97-AF65-F5344CB8AC3E}">
        <p14:creationId xmlns:p14="http://schemas.microsoft.com/office/powerpoint/2010/main" val="3032174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CE0C3-3C00-B90D-8E8E-51460986DB9D}"/>
              </a:ext>
            </a:extLst>
          </p:cNvPr>
          <p:cNvSpPr>
            <a:spLocks noGrp="1"/>
          </p:cNvSpPr>
          <p:nvPr>
            <p:ph type="title"/>
          </p:nvPr>
        </p:nvSpPr>
        <p:spPr/>
        <p:txBody>
          <a:bodyPr/>
          <a:lstStyle/>
          <a:p>
            <a:r>
              <a:rPr lang="en-US" dirty="0"/>
              <a:t>High-Level Architecture</a:t>
            </a:r>
          </a:p>
        </p:txBody>
      </p:sp>
      <p:sp>
        <p:nvSpPr>
          <p:cNvPr id="6" name="Rounded Rectangle 5">
            <a:extLst>
              <a:ext uri="{FF2B5EF4-FFF2-40B4-BE49-F238E27FC236}">
                <a16:creationId xmlns:a16="http://schemas.microsoft.com/office/drawing/2014/main" id="{318FFB55-FC76-BEA5-FEF4-704DF2CE7687}"/>
              </a:ext>
            </a:extLst>
          </p:cNvPr>
          <p:cNvSpPr/>
          <p:nvPr/>
        </p:nvSpPr>
        <p:spPr>
          <a:xfrm>
            <a:off x="1339702" y="1956387"/>
            <a:ext cx="1573621" cy="988828"/>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75000"/>
                    <a:lumOff val="25000"/>
                  </a:schemeClr>
                </a:solidFill>
              </a:rPr>
              <a:t>Logs Agent</a:t>
            </a:r>
          </a:p>
          <a:p>
            <a:pPr algn="ctr"/>
            <a:r>
              <a:rPr lang="en-US" sz="1200" dirty="0">
                <a:solidFill>
                  <a:schemeClr val="tx1">
                    <a:lumMod val="75000"/>
                    <a:lumOff val="25000"/>
                  </a:schemeClr>
                </a:solidFill>
              </a:rPr>
              <a:t>Client</a:t>
            </a:r>
          </a:p>
        </p:txBody>
      </p:sp>
      <p:sp>
        <p:nvSpPr>
          <p:cNvPr id="9" name="Rounded Rectangle 8">
            <a:extLst>
              <a:ext uri="{FF2B5EF4-FFF2-40B4-BE49-F238E27FC236}">
                <a16:creationId xmlns:a16="http://schemas.microsoft.com/office/drawing/2014/main" id="{69657073-57E0-163A-EE65-64D671B4691B}"/>
              </a:ext>
            </a:extLst>
          </p:cNvPr>
          <p:cNvSpPr/>
          <p:nvPr/>
        </p:nvSpPr>
        <p:spPr>
          <a:xfrm>
            <a:off x="4151426" y="1956387"/>
            <a:ext cx="1573621" cy="988830"/>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75000"/>
                    <a:lumOff val="25000"/>
                  </a:schemeClr>
                </a:solidFill>
              </a:rPr>
              <a:t>Backend</a:t>
            </a:r>
          </a:p>
          <a:p>
            <a:pPr algn="ctr"/>
            <a:r>
              <a:rPr lang="en-US" sz="1200" dirty="0">
                <a:solidFill>
                  <a:schemeClr val="tx1">
                    <a:lumMod val="75000"/>
                    <a:lumOff val="25000"/>
                  </a:schemeClr>
                </a:solidFill>
              </a:rPr>
              <a:t>Service</a:t>
            </a:r>
          </a:p>
        </p:txBody>
      </p:sp>
      <p:sp>
        <p:nvSpPr>
          <p:cNvPr id="10" name="Rounded Rectangle 9">
            <a:extLst>
              <a:ext uri="{FF2B5EF4-FFF2-40B4-BE49-F238E27FC236}">
                <a16:creationId xmlns:a16="http://schemas.microsoft.com/office/drawing/2014/main" id="{BB339BEB-AED9-0577-7834-3AF0F9AB3931}"/>
              </a:ext>
            </a:extLst>
          </p:cNvPr>
          <p:cNvSpPr/>
          <p:nvPr/>
        </p:nvSpPr>
        <p:spPr>
          <a:xfrm>
            <a:off x="6707958" y="1956385"/>
            <a:ext cx="1573621" cy="988830"/>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75000"/>
                    <a:lumOff val="25000"/>
                  </a:schemeClr>
                </a:solidFill>
              </a:rPr>
              <a:t>Portal</a:t>
            </a:r>
          </a:p>
        </p:txBody>
      </p:sp>
      <p:sp>
        <p:nvSpPr>
          <p:cNvPr id="11" name="Can 10">
            <a:extLst>
              <a:ext uri="{FF2B5EF4-FFF2-40B4-BE49-F238E27FC236}">
                <a16:creationId xmlns:a16="http://schemas.microsoft.com/office/drawing/2014/main" id="{B60E4203-FC55-D817-8973-FFA311A353E6}"/>
              </a:ext>
            </a:extLst>
          </p:cNvPr>
          <p:cNvSpPr/>
          <p:nvPr/>
        </p:nvSpPr>
        <p:spPr>
          <a:xfrm>
            <a:off x="2776671" y="3918100"/>
            <a:ext cx="991979" cy="988828"/>
          </a:xfrm>
          <a:prstGeom prst="ca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Signatures</a:t>
            </a:r>
          </a:p>
        </p:txBody>
      </p:sp>
      <p:sp>
        <p:nvSpPr>
          <p:cNvPr id="12" name="Can 11">
            <a:extLst>
              <a:ext uri="{FF2B5EF4-FFF2-40B4-BE49-F238E27FC236}">
                <a16:creationId xmlns:a16="http://schemas.microsoft.com/office/drawing/2014/main" id="{F81F9D6B-1F91-E8B7-878E-54BCD64D74FD}"/>
              </a:ext>
            </a:extLst>
          </p:cNvPr>
          <p:cNvSpPr/>
          <p:nvPr/>
        </p:nvSpPr>
        <p:spPr>
          <a:xfrm>
            <a:off x="4445388" y="3918100"/>
            <a:ext cx="991979" cy="988828"/>
          </a:xfrm>
          <a:prstGeom prst="ca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Issues</a:t>
            </a:r>
          </a:p>
        </p:txBody>
      </p:sp>
      <p:sp>
        <p:nvSpPr>
          <p:cNvPr id="13" name="Can 12">
            <a:extLst>
              <a:ext uri="{FF2B5EF4-FFF2-40B4-BE49-F238E27FC236}">
                <a16:creationId xmlns:a16="http://schemas.microsoft.com/office/drawing/2014/main" id="{F35A69D9-A5BC-E0C4-9582-5199E44FD8E5}"/>
              </a:ext>
            </a:extLst>
          </p:cNvPr>
          <p:cNvSpPr/>
          <p:nvPr/>
        </p:nvSpPr>
        <p:spPr>
          <a:xfrm>
            <a:off x="1107954" y="3896836"/>
            <a:ext cx="991979" cy="988828"/>
          </a:xfrm>
          <a:prstGeom prst="ca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Logs</a:t>
            </a:r>
          </a:p>
        </p:txBody>
      </p:sp>
      <p:sp>
        <p:nvSpPr>
          <p:cNvPr id="14" name="Can 13">
            <a:extLst>
              <a:ext uri="{FF2B5EF4-FFF2-40B4-BE49-F238E27FC236}">
                <a16:creationId xmlns:a16="http://schemas.microsoft.com/office/drawing/2014/main" id="{B56A3DB5-C81E-D0E6-E301-521B5DD7B510}"/>
              </a:ext>
            </a:extLst>
          </p:cNvPr>
          <p:cNvSpPr/>
          <p:nvPr/>
        </p:nvSpPr>
        <p:spPr>
          <a:xfrm>
            <a:off x="7635750" y="3918099"/>
            <a:ext cx="991979" cy="988828"/>
          </a:xfrm>
          <a:prstGeom prst="ca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KBs</a:t>
            </a:r>
          </a:p>
        </p:txBody>
      </p:sp>
      <p:cxnSp>
        <p:nvCxnSpPr>
          <p:cNvPr id="22" name="Straight Connector 21">
            <a:extLst>
              <a:ext uri="{FF2B5EF4-FFF2-40B4-BE49-F238E27FC236}">
                <a16:creationId xmlns:a16="http://schemas.microsoft.com/office/drawing/2014/main" id="{099EB881-A309-D4AF-228A-3410EEB8B2C0}"/>
              </a:ext>
            </a:extLst>
          </p:cNvPr>
          <p:cNvCxnSpPr>
            <a:cxnSpLocks/>
            <a:stCxn id="6" idx="3"/>
            <a:endCxn id="9" idx="1"/>
          </p:cNvCxnSpPr>
          <p:nvPr/>
        </p:nvCxnSpPr>
        <p:spPr>
          <a:xfrm>
            <a:off x="2913323" y="2450801"/>
            <a:ext cx="1238103"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A13454E-235B-D44D-1BDA-82ED813EF641}"/>
              </a:ext>
            </a:extLst>
          </p:cNvPr>
          <p:cNvCxnSpPr>
            <a:cxnSpLocks/>
            <a:stCxn id="9" idx="3"/>
            <a:endCxn id="10" idx="1"/>
          </p:cNvCxnSpPr>
          <p:nvPr/>
        </p:nvCxnSpPr>
        <p:spPr>
          <a:xfrm flipV="1">
            <a:off x="5725047" y="2450800"/>
            <a:ext cx="982911" cy="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Elbow Connector 28">
            <a:extLst>
              <a:ext uri="{FF2B5EF4-FFF2-40B4-BE49-F238E27FC236}">
                <a16:creationId xmlns:a16="http://schemas.microsoft.com/office/drawing/2014/main" id="{19607FDF-8672-ACD7-8FC4-C2289A171D37}"/>
              </a:ext>
            </a:extLst>
          </p:cNvPr>
          <p:cNvCxnSpPr>
            <a:cxnSpLocks/>
            <a:stCxn id="9" idx="2"/>
            <a:endCxn id="13" idx="1"/>
          </p:cNvCxnSpPr>
          <p:nvPr/>
        </p:nvCxnSpPr>
        <p:spPr>
          <a:xfrm rot="5400000">
            <a:off x="2795282" y="1753880"/>
            <a:ext cx="951619" cy="3334293"/>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A556D80E-A249-CDE6-5EBD-848B7ED68A79}"/>
              </a:ext>
            </a:extLst>
          </p:cNvPr>
          <p:cNvCxnSpPr>
            <a:cxnSpLocks/>
            <a:stCxn id="9" idx="2"/>
            <a:endCxn id="12" idx="1"/>
          </p:cNvCxnSpPr>
          <p:nvPr/>
        </p:nvCxnSpPr>
        <p:spPr>
          <a:xfrm rot="16200000" flipH="1">
            <a:off x="4453366" y="3430087"/>
            <a:ext cx="972883" cy="314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38" name="Can 37">
            <a:extLst>
              <a:ext uri="{FF2B5EF4-FFF2-40B4-BE49-F238E27FC236}">
                <a16:creationId xmlns:a16="http://schemas.microsoft.com/office/drawing/2014/main" id="{0C015BDF-5586-E16A-28AF-A6FE442D3A89}"/>
              </a:ext>
            </a:extLst>
          </p:cNvPr>
          <p:cNvSpPr/>
          <p:nvPr/>
        </p:nvSpPr>
        <p:spPr>
          <a:xfrm>
            <a:off x="5956600" y="3918099"/>
            <a:ext cx="991979" cy="988828"/>
          </a:xfrm>
          <a:prstGeom prst="ca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Bugs</a:t>
            </a:r>
          </a:p>
        </p:txBody>
      </p:sp>
      <p:cxnSp>
        <p:nvCxnSpPr>
          <p:cNvPr id="40" name="Elbow Connector 39">
            <a:extLst>
              <a:ext uri="{FF2B5EF4-FFF2-40B4-BE49-F238E27FC236}">
                <a16:creationId xmlns:a16="http://schemas.microsoft.com/office/drawing/2014/main" id="{39FF0CC8-26E5-5336-41F7-AB6EFD022F3A}"/>
              </a:ext>
            </a:extLst>
          </p:cNvPr>
          <p:cNvCxnSpPr>
            <a:cxnSpLocks/>
            <a:stCxn id="9" idx="2"/>
            <a:endCxn id="38" idx="1"/>
          </p:cNvCxnSpPr>
          <p:nvPr/>
        </p:nvCxnSpPr>
        <p:spPr>
          <a:xfrm rot="16200000" flipH="1">
            <a:off x="5208972" y="2674481"/>
            <a:ext cx="972882" cy="1514353"/>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85E7571A-653D-175B-6B1E-86BE49BD3F8B}"/>
              </a:ext>
            </a:extLst>
          </p:cNvPr>
          <p:cNvCxnSpPr>
            <a:cxnSpLocks/>
            <a:stCxn id="9" idx="2"/>
            <a:endCxn id="11" idx="1"/>
          </p:cNvCxnSpPr>
          <p:nvPr/>
        </p:nvCxnSpPr>
        <p:spPr>
          <a:xfrm rot="5400000">
            <a:off x="3619008" y="2598870"/>
            <a:ext cx="972883" cy="166557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44" name="Elbow Connector 43">
            <a:extLst>
              <a:ext uri="{FF2B5EF4-FFF2-40B4-BE49-F238E27FC236}">
                <a16:creationId xmlns:a16="http://schemas.microsoft.com/office/drawing/2014/main" id="{448452BD-94D2-6B4E-A9B8-BB05F1CE47DD}"/>
              </a:ext>
            </a:extLst>
          </p:cNvPr>
          <p:cNvCxnSpPr>
            <a:cxnSpLocks/>
            <a:stCxn id="9" idx="2"/>
            <a:endCxn id="14" idx="1"/>
          </p:cNvCxnSpPr>
          <p:nvPr/>
        </p:nvCxnSpPr>
        <p:spPr>
          <a:xfrm rot="16200000" flipH="1">
            <a:off x="6048547" y="1834906"/>
            <a:ext cx="972882" cy="3193503"/>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4209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53CB7-5AE5-24D8-2CC4-D7F9E711E7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56A949-C03F-1003-9AE3-CF9D890A88DE}"/>
              </a:ext>
            </a:extLst>
          </p:cNvPr>
          <p:cNvSpPr>
            <a:spLocks noGrp="1"/>
          </p:cNvSpPr>
          <p:nvPr>
            <p:ph type="title"/>
          </p:nvPr>
        </p:nvSpPr>
        <p:spPr/>
        <p:txBody>
          <a:bodyPr/>
          <a:lstStyle/>
          <a:p>
            <a:r>
              <a:rPr lang="en-US" dirty="0"/>
              <a:t>Logs Agent Client</a:t>
            </a:r>
          </a:p>
        </p:txBody>
      </p:sp>
      <p:sp>
        <p:nvSpPr>
          <p:cNvPr id="9" name="Rounded Rectangle 8">
            <a:extLst>
              <a:ext uri="{FF2B5EF4-FFF2-40B4-BE49-F238E27FC236}">
                <a16:creationId xmlns:a16="http://schemas.microsoft.com/office/drawing/2014/main" id="{291F901D-0D22-60E8-31F1-523F7E8D35DD}"/>
              </a:ext>
            </a:extLst>
          </p:cNvPr>
          <p:cNvSpPr/>
          <p:nvPr/>
        </p:nvSpPr>
        <p:spPr>
          <a:xfrm>
            <a:off x="5905229" y="3880881"/>
            <a:ext cx="2186148" cy="1095153"/>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Backend</a:t>
            </a:r>
          </a:p>
          <a:p>
            <a:pPr algn="ctr"/>
            <a:r>
              <a:rPr lang="en-US" sz="1200" dirty="0"/>
              <a:t>Service</a:t>
            </a:r>
          </a:p>
        </p:txBody>
      </p:sp>
      <p:cxnSp>
        <p:nvCxnSpPr>
          <p:cNvPr id="22" name="Straight Connector 21">
            <a:extLst>
              <a:ext uri="{FF2B5EF4-FFF2-40B4-BE49-F238E27FC236}">
                <a16:creationId xmlns:a16="http://schemas.microsoft.com/office/drawing/2014/main" id="{647C3ED7-95FB-AA27-B708-9A3C50C928EA}"/>
              </a:ext>
            </a:extLst>
          </p:cNvPr>
          <p:cNvCxnSpPr>
            <a:cxnSpLocks/>
            <a:stCxn id="6" idx="3"/>
            <a:endCxn id="9" idx="1"/>
          </p:cNvCxnSpPr>
          <p:nvPr/>
        </p:nvCxnSpPr>
        <p:spPr>
          <a:xfrm>
            <a:off x="3710758" y="4423143"/>
            <a:ext cx="2194471" cy="5315"/>
          </a:xfrm>
          <a:prstGeom prst="line">
            <a:avLst/>
          </a:prstGeom>
        </p:spPr>
        <p:style>
          <a:lnRef idx="1">
            <a:schemeClr val="accent1"/>
          </a:lnRef>
          <a:fillRef idx="0">
            <a:schemeClr val="accent1"/>
          </a:fillRef>
          <a:effectRef idx="0">
            <a:schemeClr val="accent1"/>
          </a:effectRef>
          <a:fontRef idx="minor">
            <a:schemeClr val="tx1"/>
          </a:fontRef>
        </p:style>
      </p:cxnSp>
      <p:sp>
        <p:nvSpPr>
          <p:cNvPr id="7" name="Rounded Rectangle 6">
            <a:extLst>
              <a:ext uri="{FF2B5EF4-FFF2-40B4-BE49-F238E27FC236}">
                <a16:creationId xmlns:a16="http://schemas.microsoft.com/office/drawing/2014/main" id="{4AE4AC20-8DEA-ED21-73D3-DCF9A556C109}"/>
              </a:ext>
            </a:extLst>
          </p:cNvPr>
          <p:cNvSpPr/>
          <p:nvPr/>
        </p:nvSpPr>
        <p:spPr>
          <a:xfrm>
            <a:off x="1818168" y="1970694"/>
            <a:ext cx="2450166" cy="3409380"/>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Portal</a:t>
            </a:r>
          </a:p>
        </p:txBody>
      </p:sp>
      <p:sp>
        <p:nvSpPr>
          <p:cNvPr id="6" name="Rounded Rectangle 5">
            <a:extLst>
              <a:ext uri="{FF2B5EF4-FFF2-40B4-BE49-F238E27FC236}">
                <a16:creationId xmlns:a16="http://schemas.microsoft.com/office/drawing/2014/main" id="{D87FA4B2-6896-9C0A-C8C9-BCA1AB1ED329}"/>
              </a:ext>
            </a:extLst>
          </p:cNvPr>
          <p:cNvSpPr/>
          <p:nvPr/>
        </p:nvSpPr>
        <p:spPr>
          <a:xfrm>
            <a:off x="2399804" y="4051003"/>
            <a:ext cx="1310954" cy="744280"/>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75000"/>
                    <a:lumOff val="25000"/>
                  </a:schemeClr>
                </a:solidFill>
              </a:rPr>
              <a:t>Logs</a:t>
            </a:r>
          </a:p>
          <a:p>
            <a:pPr algn="ctr"/>
            <a:r>
              <a:rPr lang="en-US" sz="1200" dirty="0">
                <a:solidFill>
                  <a:schemeClr val="tx1">
                    <a:lumMod val="75000"/>
                    <a:lumOff val="25000"/>
                  </a:schemeClr>
                </a:solidFill>
              </a:rPr>
              <a:t>Agent</a:t>
            </a:r>
          </a:p>
        </p:txBody>
      </p:sp>
      <p:sp>
        <p:nvSpPr>
          <p:cNvPr id="10" name="Rounded Rectangle 9">
            <a:extLst>
              <a:ext uri="{FF2B5EF4-FFF2-40B4-BE49-F238E27FC236}">
                <a16:creationId xmlns:a16="http://schemas.microsoft.com/office/drawing/2014/main" id="{8FFCB291-DEBB-689D-1EEC-4CF5CEF9A6A3}"/>
              </a:ext>
            </a:extLst>
          </p:cNvPr>
          <p:cNvSpPr/>
          <p:nvPr/>
        </p:nvSpPr>
        <p:spPr>
          <a:xfrm>
            <a:off x="2428471" y="2866193"/>
            <a:ext cx="1310954" cy="74428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App</a:t>
            </a:r>
          </a:p>
          <a:p>
            <a:pPr algn="ctr"/>
            <a:r>
              <a:rPr lang="en-US" sz="1200" dirty="0"/>
              <a:t>Components</a:t>
            </a:r>
          </a:p>
        </p:txBody>
      </p:sp>
      <p:sp>
        <p:nvSpPr>
          <p:cNvPr id="8" name="TextBox 7">
            <a:extLst>
              <a:ext uri="{FF2B5EF4-FFF2-40B4-BE49-F238E27FC236}">
                <a16:creationId xmlns:a16="http://schemas.microsoft.com/office/drawing/2014/main" id="{073EFA09-523C-1438-5B84-B6D9FA067C6B}"/>
              </a:ext>
            </a:extLst>
          </p:cNvPr>
          <p:cNvSpPr txBox="1"/>
          <p:nvPr/>
        </p:nvSpPr>
        <p:spPr>
          <a:xfrm>
            <a:off x="2883543" y="2034281"/>
            <a:ext cx="577402" cy="369332"/>
          </a:xfrm>
          <a:prstGeom prst="rect">
            <a:avLst/>
          </a:prstGeom>
          <a:noFill/>
        </p:spPr>
        <p:txBody>
          <a:bodyPr wrap="none" rtlCol="0">
            <a:spAutoFit/>
          </a:bodyPr>
          <a:lstStyle/>
          <a:p>
            <a:r>
              <a:rPr lang="en-US" dirty="0">
                <a:solidFill>
                  <a:schemeClr val="tx1">
                    <a:lumMod val="50000"/>
                    <a:lumOff val="50000"/>
                  </a:schemeClr>
                </a:solidFill>
              </a:rPr>
              <a:t>App</a:t>
            </a:r>
          </a:p>
        </p:txBody>
      </p:sp>
    </p:spTree>
    <p:extLst>
      <p:ext uri="{BB962C8B-B14F-4D97-AF65-F5344CB8AC3E}">
        <p14:creationId xmlns:p14="http://schemas.microsoft.com/office/powerpoint/2010/main" val="3848467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E9AD9-F753-5835-9A2F-A05315A172CD}"/>
              </a:ext>
            </a:extLst>
          </p:cNvPr>
          <p:cNvSpPr>
            <a:spLocks noGrp="1"/>
          </p:cNvSpPr>
          <p:nvPr>
            <p:ph type="title"/>
          </p:nvPr>
        </p:nvSpPr>
        <p:spPr/>
        <p:txBody>
          <a:bodyPr/>
          <a:lstStyle/>
          <a:p>
            <a:r>
              <a:rPr lang="en-US" dirty="0"/>
              <a:t>Logs Agent Client: Smart Log Collection</a:t>
            </a:r>
          </a:p>
        </p:txBody>
      </p:sp>
      <p:sp>
        <p:nvSpPr>
          <p:cNvPr id="4" name="TextBox 3">
            <a:extLst>
              <a:ext uri="{FF2B5EF4-FFF2-40B4-BE49-F238E27FC236}">
                <a16:creationId xmlns:a16="http://schemas.microsoft.com/office/drawing/2014/main" id="{BCD18785-606E-7D4D-5DDE-F680AE134D5F}"/>
              </a:ext>
            </a:extLst>
          </p:cNvPr>
          <p:cNvSpPr txBox="1"/>
          <p:nvPr/>
        </p:nvSpPr>
        <p:spPr>
          <a:xfrm>
            <a:off x="677334" y="1496579"/>
            <a:ext cx="9186530" cy="3888244"/>
          </a:xfrm>
          <a:prstGeom prst="rect">
            <a:avLst/>
          </a:prstGeom>
          <a:noFill/>
        </p:spPr>
        <p:txBody>
          <a:bodyPr wrap="square">
            <a:spAutoFit/>
          </a:bodyPr>
          <a:lstStyle/>
          <a:p>
            <a:pPr>
              <a:spcBef>
                <a:spcPts val="1000"/>
              </a:spcBef>
            </a:pPr>
            <a:r>
              <a:rPr lang="en-US" b="1" dirty="0"/>
              <a:t>Key Design Decision</a:t>
            </a:r>
            <a:r>
              <a:rPr lang="en-US" dirty="0"/>
              <a:t>: Configuration-driven (works for any app)</a:t>
            </a:r>
          </a:p>
          <a:p>
            <a:pPr marL="285750" indent="-285750">
              <a:spcBef>
                <a:spcPts val="1000"/>
              </a:spcBef>
              <a:buFont typeface="Arial" panose="020B0604020202020204" pitchFamily="34" charset="0"/>
              <a:buChar char="•"/>
            </a:pPr>
            <a:r>
              <a:rPr lang="en-US" sz="1600" dirty="0"/>
              <a:t>Defines what app to monitor, what to collect, when to send, how to collect additional data (e.g., check AV, FW installed, VPN on/off status, network traffic)</a:t>
            </a:r>
          </a:p>
          <a:p>
            <a:pPr marL="285750" indent="-285750">
              <a:spcBef>
                <a:spcPts val="1000"/>
              </a:spcBef>
              <a:buFont typeface="Arial" panose="020B0604020202020204" pitchFamily="34" charset="0"/>
              <a:buChar char="•"/>
            </a:pPr>
            <a:r>
              <a:rPr lang="en-US" sz="1600" dirty="0"/>
              <a:t>Ship with default configs: Collect crash, hang, app logs, app &amp; system metadata</a:t>
            </a:r>
          </a:p>
          <a:p>
            <a:pPr marL="285750" indent="-285750">
              <a:spcBef>
                <a:spcPts val="1000"/>
              </a:spcBef>
              <a:buFont typeface="Arial" panose="020B0604020202020204" pitchFamily="34" charset="0"/>
              <a:buChar char="•"/>
            </a:pPr>
            <a:r>
              <a:rPr lang="en-US" sz="1600" dirty="0"/>
              <a:t>On startup and on server notification, download latest configs from server</a:t>
            </a:r>
          </a:p>
          <a:p>
            <a:pPr marL="285750" indent="-285750">
              <a:spcBef>
                <a:spcPts val="1000"/>
              </a:spcBef>
              <a:buFont typeface="Arial" panose="020B0604020202020204" pitchFamily="34" charset="0"/>
              <a:buChar char="•"/>
            </a:pPr>
            <a:r>
              <a:rPr lang="en-US" sz="1600" dirty="0"/>
              <a:t>Monitors: crash, hang, general issues</a:t>
            </a:r>
            <a:br>
              <a:rPr lang="en-US" sz="1600" dirty="0"/>
            </a:br>
            <a:endParaRPr lang="en-US" sz="1600" dirty="0"/>
          </a:p>
          <a:p>
            <a:pPr>
              <a:spcBef>
                <a:spcPts val="1000"/>
              </a:spcBef>
            </a:pPr>
            <a:r>
              <a:rPr lang="en-US" b="1" dirty="0"/>
              <a:t>Benefits</a:t>
            </a:r>
            <a:endParaRPr lang="en-US" dirty="0"/>
          </a:p>
          <a:p>
            <a:pPr marL="285750" indent="-285750">
              <a:spcBef>
                <a:spcPts val="1000"/>
              </a:spcBef>
              <a:buFont typeface="Arial" panose="020B0604020202020204" pitchFamily="34" charset="0"/>
              <a:buChar char="•"/>
            </a:pPr>
            <a:r>
              <a:rPr lang="en-US" sz="1600" dirty="0"/>
              <a:t>Allow customize log collection per app and enterprise environment</a:t>
            </a:r>
          </a:p>
          <a:p>
            <a:pPr marL="285750" indent="-285750">
              <a:spcBef>
                <a:spcPts val="1000"/>
              </a:spcBef>
              <a:buFont typeface="Arial" panose="020B0604020202020204" pitchFamily="34" charset="0"/>
              <a:buChar char="•"/>
            </a:pPr>
            <a:r>
              <a:rPr lang="en-US" sz="1600" dirty="0"/>
              <a:t>Allow different configs per issue type</a:t>
            </a:r>
          </a:p>
          <a:p>
            <a:pPr marL="285750" indent="-285750">
              <a:spcBef>
                <a:spcPts val="1000"/>
              </a:spcBef>
              <a:buFont typeface="Arial" panose="020B0604020202020204" pitchFamily="34" charset="0"/>
              <a:buChar char="•"/>
            </a:pPr>
            <a:r>
              <a:rPr lang="en-US" sz="1600" dirty="0"/>
              <a:t>Update configs without client update</a:t>
            </a:r>
          </a:p>
        </p:txBody>
      </p:sp>
    </p:spTree>
    <p:extLst>
      <p:ext uri="{BB962C8B-B14F-4D97-AF65-F5344CB8AC3E}">
        <p14:creationId xmlns:p14="http://schemas.microsoft.com/office/powerpoint/2010/main" val="3281184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5F4CD81-845A-2180-6FBB-9C93FF1818A3}"/>
              </a:ext>
            </a:extLst>
          </p:cNvPr>
          <p:cNvSpPr/>
          <p:nvPr/>
        </p:nvSpPr>
        <p:spPr>
          <a:xfrm>
            <a:off x="893135" y="1626781"/>
            <a:ext cx="3742660" cy="446567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a:t>
            </a:r>
            <a:r>
              <a:rPr lang="en-US" sz="1200" dirty="0" err="1">
                <a:solidFill>
                  <a:schemeClr val="tx1"/>
                </a:solidFill>
                <a:latin typeface="Courier New" panose="02070309020205020404" pitchFamily="49" charset="0"/>
                <a:cs typeface="Courier New" panose="02070309020205020404" pitchFamily="49" charset="0"/>
              </a:rPr>
              <a:t>appName</a:t>
            </a:r>
            <a:r>
              <a:rPr lang="en-US" sz="1200" dirty="0">
                <a:solidFill>
                  <a:schemeClr val="tx1"/>
                </a:solidFill>
                <a:latin typeface="Courier New" panose="02070309020205020404" pitchFamily="49" charset="0"/>
                <a:cs typeface="Courier New" panose="02070309020205020404" pitchFamily="49" charset="0"/>
              </a:rPr>
              <a:t>": "</a:t>
            </a:r>
            <a:r>
              <a:rPr lang="en-US" sz="1200" dirty="0" err="1">
                <a:solidFill>
                  <a:schemeClr val="tx1"/>
                </a:solidFill>
                <a:latin typeface="Courier New" panose="02070309020205020404" pitchFamily="49" charset="0"/>
                <a:cs typeface="Courier New" panose="02070309020205020404" pitchFamily="49" charset="0"/>
              </a:rPr>
              <a:t>bestvpn</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a:t>
            </a:r>
            <a:r>
              <a:rPr lang="en-US" sz="1200" dirty="0" err="1">
                <a:solidFill>
                  <a:schemeClr val="tx1"/>
                </a:solidFill>
                <a:latin typeface="Courier New" panose="02070309020205020404" pitchFamily="49" charset="0"/>
                <a:cs typeface="Courier New" panose="02070309020205020404" pitchFamily="49" charset="0"/>
              </a:rPr>
              <a:t>productIdentifier</a:t>
            </a:r>
            <a:r>
              <a:rPr lang="en-US" sz="1200" dirty="0">
                <a:solidFill>
                  <a:schemeClr val="tx1"/>
                </a:solidFill>
                <a:latin typeface="Courier New" panose="02070309020205020404" pitchFamily="49" charset="0"/>
                <a:cs typeface="Courier New" panose="02070309020205020404" pitchFamily="49" charset="0"/>
              </a:rPr>
              <a:t>": "</a:t>
            </a:r>
            <a:r>
              <a:rPr lang="en-US" sz="1200" dirty="0" err="1">
                <a:solidFill>
                  <a:schemeClr val="tx1"/>
                </a:solidFill>
                <a:latin typeface="Courier New" panose="02070309020205020404" pitchFamily="49" charset="0"/>
                <a:cs typeface="Courier New" panose="02070309020205020404" pitchFamily="49" charset="0"/>
              </a:rPr>
              <a:t>bestvpn</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a:t>
            </a:r>
            <a:r>
              <a:rPr lang="en-US" sz="1200" dirty="0" err="1">
                <a:solidFill>
                  <a:schemeClr val="tx1"/>
                </a:solidFill>
                <a:latin typeface="Courier New" panose="02070309020205020404" pitchFamily="49" charset="0"/>
                <a:cs typeface="Courier New" panose="02070309020205020404" pitchFamily="49" charset="0"/>
              </a:rPr>
              <a:t>includeTelemetry</a:t>
            </a:r>
            <a:r>
              <a:rPr lang="en-US" sz="1200" dirty="0">
                <a:solidFill>
                  <a:schemeClr val="tx1"/>
                </a:solidFill>
                <a:latin typeface="Courier New" panose="02070309020205020404" pitchFamily="49" charset="0"/>
                <a:cs typeface="Courier New" panose="02070309020205020404" pitchFamily="49" charset="0"/>
              </a:rPr>
              <a:t>": true,</a:t>
            </a:r>
          </a:p>
          <a:p>
            <a:r>
              <a:rPr lang="en-US" sz="1200" dirty="0">
                <a:solidFill>
                  <a:schemeClr val="tx1"/>
                </a:solidFill>
                <a:latin typeface="Courier New" panose="02070309020205020404" pitchFamily="49" charset="0"/>
                <a:cs typeface="Courier New" panose="02070309020205020404" pitchFamily="49" charset="0"/>
              </a:rPr>
              <a:t>  "</a:t>
            </a:r>
            <a:r>
              <a:rPr lang="en-US" sz="1200" dirty="0" err="1">
                <a:solidFill>
                  <a:schemeClr val="tx1"/>
                </a:solidFill>
                <a:latin typeface="Courier New" panose="02070309020205020404" pitchFamily="49" charset="0"/>
                <a:cs typeface="Courier New" panose="02070309020205020404" pitchFamily="49" charset="0"/>
              </a:rPr>
              <a:t>monitoringInterval</a:t>
            </a:r>
            <a:r>
              <a:rPr lang="en-US" sz="1200" dirty="0">
                <a:solidFill>
                  <a:schemeClr val="tx1"/>
                </a:solidFill>
                <a:latin typeface="Courier New" panose="02070309020205020404" pitchFamily="49" charset="0"/>
                <a:cs typeface="Courier New" panose="02070309020205020404" pitchFamily="49" charset="0"/>
              </a:rPr>
              <a:t>": {</a:t>
            </a:r>
          </a:p>
          <a:p>
            <a:r>
              <a:rPr lang="en-US" sz="1200" dirty="0">
                <a:solidFill>
                  <a:schemeClr val="tx1"/>
                </a:solidFill>
                <a:latin typeface="Courier New" panose="02070309020205020404" pitchFamily="49" charset="0"/>
                <a:cs typeface="Courier New" panose="02070309020205020404" pitchFamily="49" charset="0"/>
              </a:rPr>
              <a:t>    "crash": {</a:t>
            </a:r>
          </a:p>
          <a:p>
            <a:r>
              <a:rPr lang="en-US" sz="1200" dirty="0">
                <a:solidFill>
                  <a:schemeClr val="tx1"/>
                </a:solidFill>
                <a:latin typeface="Courier New" panose="02070309020205020404" pitchFamily="49" charset="0"/>
                <a:cs typeface="Courier New" panose="02070309020205020404" pitchFamily="49" charset="0"/>
              </a:rPr>
              <a:t>      "frequency": "immediately"</a:t>
            </a:r>
          </a:p>
          <a:p>
            <a:r>
              <a:rPr lang="en-US" sz="1200" dirty="0">
                <a:solidFill>
                  <a:schemeClr val="tx1"/>
                </a:solidFill>
                <a:latin typeface="Courier New" panose="02070309020205020404" pitchFamily="49" charset="0"/>
                <a:cs typeface="Courier New" panose="02070309020205020404" pitchFamily="49" charset="0"/>
              </a:rPr>
              <a:t>    },</a:t>
            </a:r>
          </a:p>
          <a:p>
            <a:r>
              <a:rPr lang="en-US" sz="1200" dirty="0">
                <a:solidFill>
                  <a:schemeClr val="tx1"/>
                </a:solidFill>
                <a:latin typeface="Courier New" panose="02070309020205020404" pitchFamily="49" charset="0"/>
                <a:cs typeface="Courier New" panose="02070309020205020404" pitchFamily="49" charset="0"/>
              </a:rPr>
              <a:t>    "hang": {</a:t>
            </a:r>
          </a:p>
          <a:p>
            <a:r>
              <a:rPr lang="en-US" sz="1200" dirty="0">
                <a:solidFill>
                  <a:schemeClr val="tx1"/>
                </a:solidFill>
                <a:latin typeface="Courier New" panose="02070309020205020404" pitchFamily="49" charset="0"/>
                <a:cs typeface="Courier New" panose="02070309020205020404" pitchFamily="49" charset="0"/>
              </a:rPr>
              <a:t>      "frequency": "immediately"</a:t>
            </a:r>
          </a:p>
          <a:p>
            <a:r>
              <a:rPr lang="en-US" sz="1200" dirty="0">
                <a:solidFill>
                  <a:schemeClr val="tx1"/>
                </a:solidFill>
                <a:latin typeface="Courier New" panose="02070309020205020404" pitchFamily="49" charset="0"/>
                <a:cs typeface="Courier New" panose="02070309020205020404" pitchFamily="49" charset="0"/>
              </a:rPr>
              <a:t>    },</a:t>
            </a:r>
          </a:p>
          <a:p>
            <a:r>
              <a:rPr lang="en-US" sz="1200" dirty="0">
                <a:solidFill>
                  <a:schemeClr val="tx1"/>
                </a:solidFill>
                <a:latin typeface="Courier New" panose="02070309020205020404" pitchFamily="49" charset="0"/>
                <a:cs typeface="Courier New" panose="02070309020205020404" pitchFamily="49" charset="0"/>
              </a:rPr>
              <a:t>    "general": {</a:t>
            </a:r>
          </a:p>
          <a:p>
            <a:r>
              <a:rPr lang="en-US" sz="1200" dirty="0">
                <a:solidFill>
                  <a:schemeClr val="tx1"/>
                </a:solidFill>
                <a:latin typeface="Courier New" panose="02070309020205020404" pitchFamily="49" charset="0"/>
                <a:cs typeface="Courier New" panose="02070309020205020404" pitchFamily="49" charset="0"/>
              </a:rPr>
              <a:t>      "frequency": "interval",</a:t>
            </a:r>
          </a:p>
          <a:p>
            <a:r>
              <a:rPr lang="en-US" sz="1200" dirty="0">
                <a:solidFill>
                  <a:schemeClr val="tx1"/>
                </a:solidFill>
                <a:latin typeface="Courier New" panose="02070309020205020404" pitchFamily="49" charset="0"/>
                <a:cs typeface="Courier New" panose="02070309020205020404" pitchFamily="49" charset="0"/>
              </a:rPr>
              <a:t>      "seconds": 300</a:t>
            </a:r>
          </a:p>
          <a:p>
            <a:r>
              <a:rPr lang="en-US" sz="1200" dirty="0">
                <a:solidFill>
                  <a:schemeClr val="tx1"/>
                </a:solidFill>
                <a:latin typeface="Courier New" panose="02070309020205020404" pitchFamily="49" charset="0"/>
                <a:cs typeface="Courier New" panose="02070309020205020404" pitchFamily="49" charset="0"/>
              </a:rPr>
              <a:t>    }</a:t>
            </a:r>
          </a:p>
          <a:p>
            <a:r>
              <a:rPr lang="en-US" sz="1200" dirty="0">
                <a:solidFill>
                  <a:schemeClr val="tx1"/>
                </a:solidFill>
                <a:latin typeface="Courier New" panose="02070309020205020404" pitchFamily="49" charset="0"/>
                <a:cs typeface="Courier New" panose="02070309020205020404" pitchFamily="49" charset="0"/>
              </a:rPr>
              <a:t>  }</a:t>
            </a:r>
          </a:p>
        </p:txBody>
      </p:sp>
      <p:sp>
        <p:nvSpPr>
          <p:cNvPr id="2" name="Title 1">
            <a:extLst>
              <a:ext uri="{FF2B5EF4-FFF2-40B4-BE49-F238E27FC236}">
                <a16:creationId xmlns:a16="http://schemas.microsoft.com/office/drawing/2014/main" id="{71B7B2E0-8978-A918-73F2-D01A009E145B}"/>
              </a:ext>
            </a:extLst>
          </p:cNvPr>
          <p:cNvSpPr>
            <a:spLocks noGrp="1"/>
          </p:cNvSpPr>
          <p:nvPr>
            <p:ph type="title"/>
          </p:nvPr>
        </p:nvSpPr>
        <p:spPr>
          <a:xfrm>
            <a:off x="677334" y="609600"/>
            <a:ext cx="10261176" cy="1320800"/>
          </a:xfrm>
        </p:spPr>
        <p:txBody>
          <a:bodyPr/>
          <a:lstStyle/>
          <a:p>
            <a:r>
              <a:rPr lang="en-US" dirty="0"/>
              <a:t>Logs Agent Client: Configurations Sample</a:t>
            </a:r>
          </a:p>
        </p:txBody>
      </p:sp>
      <p:sp>
        <p:nvSpPr>
          <p:cNvPr id="14" name="Rectangle 13">
            <a:extLst>
              <a:ext uri="{FF2B5EF4-FFF2-40B4-BE49-F238E27FC236}">
                <a16:creationId xmlns:a16="http://schemas.microsoft.com/office/drawing/2014/main" id="{AD16BA5D-F7FE-0EA8-4DD1-5EACDDF1E591}"/>
              </a:ext>
            </a:extLst>
          </p:cNvPr>
          <p:cNvSpPr/>
          <p:nvPr/>
        </p:nvSpPr>
        <p:spPr>
          <a:xfrm>
            <a:off x="4851596" y="1626781"/>
            <a:ext cx="5897919" cy="446567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a:t>
            </a:r>
            <a:r>
              <a:rPr lang="en-US" sz="1200" dirty="0" err="1">
                <a:solidFill>
                  <a:schemeClr val="tx1"/>
                </a:solidFill>
                <a:latin typeface="Courier New" panose="02070309020205020404" pitchFamily="49" charset="0"/>
                <a:cs typeface="Courier New" panose="02070309020205020404" pitchFamily="49" charset="0"/>
              </a:rPr>
              <a:t>additionalCommands</a:t>
            </a:r>
            <a:r>
              <a:rPr lang="en-US" sz="1200" dirty="0">
                <a:solidFill>
                  <a:schemeClr val="tx1"/>
                </a:solidFill>
                <a:latin typeface="Courier New" panose="02070309020205020404" pitchFamily="49" charset="0"/>
                <a:cs typeface="Courier New" panose="02070309020205020404" pitchFamily="49" charset="0"/>
              </a:rPr>
              <a:t>": [</a:t>
            </a:r>
          </a:p>
          <a:p>
            <a:r>
              <a:rPr lang="en-US" sz="1200" dirty="0">
                <a:solidFill>
                  <a:schemeClr val="tx1"/>
                </a:solidFill>
                <a:latin typeface="Courier New" panose="02070309020205020404" pitchFamily="49" charset="0"/>
                <a:cs typeface="Courier New" panose="02070309020205020404" pitchFamily="49" charset="0"/>
              </a:rPr>
              <a:t>    {</a:t>
            </a:r>
          </a:p>
          <a:p>
            <a:r>
              <a:rPr lang="en-US" sz="1200" dirty="0">
                <a:solidFill>
                  <a:schemeClr val="tx1"/>
                </a:solidFill>
                <a:latin typeface="Courier New" panose="02070309020205020404" pitchFamily="49" charset="0"/>
                <a:cs typeface="Courier New" panose="02070309020205020404" pitchFamily="49" charset="0"/>
              </a:rPr>
              <a:t>      "name": "</a:t>
            </a:r>
            <a:r>
              <a:rPr lang="en-US" sz="1200" dirty="0" err="1">
                <a:solidFill>
                  <a:schemeClr val="tx1"/>
                </a:solidFill>
                <a:latin typeface="Courier New" panose="02070309020205020404" pitchFamily="49" charset="0"/>
                <a:cs typeface="Courier New" panose="02070309020205020404" pitchFamily="49" charset="0"/>
              </a:rPr>
              <a:t>download_speed</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"command": "/</a:t>
            </a:r>
            <a:r>
              <a:rPr lang="en-US" sz="1200" dirty="0" err="1">
                <a:solidFill>
                  <a:schemeClr val="tx1"/>
                </a:solidFill>
                <a:latin typeface="Courier New" panose="02070309020205020404" pitchFamily="49" charset="0"/>
                <a:cs typeface="Courier New" panose="02070309020205020404" pitchFamily="49" charset="0"/>
              </a:rPr>
              <a:t>usr</a:t>
            </a:r>
            <a:r>
              <a:rPr lang="en-US" sz="1200" dirty="0">
                <a:solidFill>
                  <a:schemeClr val="tx1"/>
                </a:solidFill>
                <a:latin typeface="Courier New" panose="02070309020205020404" pitchFamily="49" charset="0"/>
                <a:cs typeface="Courier New" panose="02070309020205020404" pitchFamily="49" charset="0"/>
              </a:rPr>
              <a:t>/bin/curl",</a:t>
            </a:r>
          </a:p>
          <a:p>
            <a:r>
              <a:rPr lang="en-US" sz="1200" dirty="0">
                <a:solidFill>
                  <a:schemeClr val="tx1"/>
                </a:solidFill>
                <a:latin typeface="Courier New" panose="02070309020205020404" pitchFamily="49" charset="0"/>
                <a:cs typeface="Courier New" panose="02070309020205020404" pitchFamily="49" charset="0"/>
              </a:rPr>
              <a:t>      "arguments": [</a:t>
            </a:r>
          </a:p>
          <a:p>
            <a:r>
              <a:rPr lang="en-US" sz="1200" dirty="0">
                <a:solidFill>
                  <a:schemeClr val="tx1"/>
                </a:solidFill>
                <a:latin typeface="Courier New" panose="02070309020205020404" pitchFamily="49" charset="0"/>
                <a:cs typeface="Courier New" panose="02070309020205020404" pitchFamily="49" charset="0"/>
              </a:rPr>
              <a:t>        "%{</a:t>
            </a:r>
            <a:r>
              <a:rPr lang="en-US" sz="1200" dirty="0" err="1">
                <a:solidFill>
                  <a:schemeClr val="tx1"/>
                </a:solidFill>
                <a:latin typeface="Courier New" panose="02070309020205020404" pitchFamily="49" charset="0"/>
                <a:cs typeface="Courier New" panose="02070309020205020404" pitchFamily="49" charset="0"/>
              </a:rPr>
              <a:t>speed_download</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"https://</a:t>
            </a:r>
            <a:r>
              <a:rPr lang="en-US" sz="1200" dirty="0" err="1">
                <a:solidFill>
                  <a:schemeClr val="tx1"/>
                </a:solidFill>
                <a:latin typeface="Courier New" panose="02070309020205020404" pitchFamily="49" charset="0"/>
                <a:cs typeface="Courier New" panose="02070309020205020404" pitchFamily="49" charset="0"/>
              </a:rPr>
              <a:t>speed.cloudflare.com</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a:t>
            </a:r>
          </a:p>
          <a:p>
            <a:r>
              <a:rPr lang="en-US" sz="1200" dirty="0">
                <a:solidFill>
                  <a:schemeClr val="tx1"/>
                </a:solidFill>
                <a:latin typeface="Courier New" panose="02070309020205020404" pitchFamily="49" charset="0"/>
                <a:cs typeface="Courier New" panose="02070309020205020404" pitchFamily="49" charset="0"/>
              </a:rPr>
              <a:t>      "</a:t>
            </a:r>
            <a:r>
              <a:rPr lang="en-US" sz="1200" dirty="0" err="1">
                <a:solidFill>
                  <a:schemeClr val="tx1"/>
                </a:solidFill>
                <a:latin typeface="Courier New" panose="02070309020205020404" pitchFamily="49" charset="0"/>
                <a:cs typeface="Courier New" panose="02070309020205020404" pitchFamily="49" charset="0"/>
              </a:rPr>
              <a:t>includeWithCrash</a:t>
            </a:r>
            <a:r>
              <a:rPr lang="en-US" sz="1200" dirty="0">
                <a:solidFill>
                  <a:schemeClr val="tx1"/>
                </a:solidFill>
                <a:latin typeface="Courier New" panose="02070309020205020404" pitchFamily="49" charset="0"/>
                <a:cs typeface="Courier New" panose="02070309020205020404" pitchFamily="49" charset="0"/>
              </a:rPr>
              <a:t>": false,</a:t>
            </a:r>
          </a:p>
          <a:p>
            <a:r>
              <a:rPr lang="en-US" sz="1200" dirty="0">
                <a:solidFill>
                  <a:schemeClr val="tx1"/>
                </a:solidFill>
                <a:latin typeface="Courier New" panose="02070309020205020404" pitchFamily="49" charset="0"/>
                <a:cs typeface="Courier New" panose="02070309020205020404" pitchFamily="49" charset="0"/>
              </a:rPr>
              <a:t>      "</a:t>
            </a:r>
            <a:r>
              <a:rPr lang="en-US" sz="1200" dirty="0" err="1">
                <a:solidFill>
                  <a:schemeClr val="tx1"/>
                </a:solidFill>
                <a:latin typeface="Courier New" panose="02070309020205020404" pitchFamily="49" charset="0"/>
                <a:cs typeface="Courier New" panose="02070309020205020404" pitchFamily="49" charset="0"/>
              </a:rPr>
              <a:t>includeWithHang</a:t>
            </a:r>
            <a:r>
              <a:rPr lang="en-US" sz="1200" dirty="0">
                <a:solidFill>
                  <a:schemeClr val="tx1"/>
                </a:solidFill>
                <a:latin typeface="Courier New" panose="02070309020205020404" pitchFamily="49" charset="0"/>
                <a:cs typeface="Courier New" panose="02070309020205020404" pitchFamily="49" charset="0"/>
              </a:rPr>
              <a:t>": true</a:t>
            </a:r>
          </a:p>
          <a:p>
            <a:r>
              <a:rPr lang="en-US" sz="1200" dirty="0">
                <a:solidFill>
                  <a:schemeClr val="tx1"/>
                </a:solidFill>
                <a:latin typeface="Courier New" panose="02070309020205020404" pitchFamily="49" charset="0"/>
                <a:cs typeface="Courier New" panose="02070309020205020404" pitchFamily="49" charset="0"/>
              </a:rPr>
              <a:t>    },</a:t>
            </a:r>
          </a:p>
          <a:p>
            <a:r>
              <a:rPr lang="en-US" sz="1200" dirty="0">
                <a:solidFill>
                  <a:schemeClr val="tx1"/>
                </a:solidFill>
                <a:latin typeface="Courier New" panose="02070309020205020404" pitchFamily="49" charset="0"/>
                <a:cs typeface="Courier New" panose="02070309020205020404" pitchFamily="49" charset="0"/>
              </a:rPr>
              <a:t>    {</a:t>
            </a:r>
          </a:p>
          <a:p>
            <a:r>
              <a:rPr lang="en-US" sz="1200" dirty="0">
                <a:solidFill>
                  <a:schemeClr val="tx1"/>
                </a:solidFill>
                <a:latin typeface="Courier New" panose="02070309020205020404" pitchFamily="49" charset="0"/>
                <a:cs typeface="Courier New" panose="02070309020205020404" pitchFamily="49" charset="0"/>
              </a:rPr>
              <a:t>      "name": "</a:t>
            </a:r>
            <a:r>
              <a:rPr lang="en-US" sz="1200" dirty="0" err="1">
                <a:solidFill>
                  <a:schemeClr val="tx1"/>
                </a:solidFill>
                <a:latin typeface="Courier New" panose="02070309020205020404" pitchFamily="49" charset="0"/>
                <a:cs typeface="Courier New" panose="02070309020205020404" pitchFamily="49" charset="0"/>
              </a:rPr>
              <a:t>upload_speed</a:t>
            </a:r>
            <a:r>
              <a:rPr lang="en-US" sz="1200" dirty="0">
                <a:solidFill>
                  <a:schemeClr val="tx1"/>
                </a:solidFill>
                <a:latin typeface="Courier New" panose="02070309020205020404" pitchFamily="49" charset="0"/>
                <a:cs typeface="Courier New" panose="02070309020205020404" pitchFamily="49" charset="0"/>
              </a:rPr>
              <a:t>",</a:t>
            </a:r>
          </a:p>
          <a:p>
            <a:r>
              <a:rPr lang="en-US" sz="1200" dirty="0">
                <a:solidFill>
                  <a:schemeClr val="tx1"/>
                </a:solidFill>
                <a:latin typeface="Courier New" panose="02070309020205020404" pitchFamily="49" charset="0"/>
                <a:cs typeface="Courier New" panose="02070309020205020404" pitchFamily="49" charset="0"/>
              </a:rPr>
              <a:t>      "command": "/</a:t>
            </a:r>
            <a:r>
              <a:rPr lang="en-US" sz="1200" dirty="0" err="1">
                <a:solidFill>
                  <a:schemeClr val="tx1"/>
                </a:solidFill>
                <a:latin typeface="Courier New" panose="02070309020205020404" pitchFamily="49" charset="0"/>
                <a:cs typeface="Courier New" panose="02070309020205020404" pitchFamily="49" charset="0"/>
              </a:rPr>
              <a:t>usr</a:t>
            </a:r>
            <a:r>
              <a:rPr lang="en-US" sz="1200" dirty="0">
                <a:solidFill>
                  <a:schemeClr val="tx1"/>
                </a:solidFill>
                <a:latin typeface="Courier New" panose="02070309020205020404" pitchFamily="49" charset="0"/>
                <a:cs typeface="Courier New" panose="02070309020205020404" pitchFamily="49" charset="0"/>
              </a:rPr>
              <a:t>/bin/curl",</a:t>
            </a:r>
          </a:p>
          <a:p>
            <a:r>
              <a:rPr lang="en-US" sz="1200" dirty="0">
                <a:solidFill>
                  <a:schemeClr val="tx1"/>
                </a:solidFill>
                <a:latin typeface="Courier New" panose="02070309020205020404" pitchFamily="49" charset="0"/>
                <a:cs typeface="Courier New" panose="02070309020205020404" pitchFamily="49" charset="0"/>
              </a:rPr>
              <a:t>      "arguments": [</a:t>
            </a:r>
          </a:p>
          <a:p>
            <a:r>
              <a:rPr lang="en-US" sz="1200" dirty="0">
                <a:solidFill>
                  <a:schemeClr val="tx1"/>
                </a:solidFill>
                <a:latin typeface="Courier New" panose="02070309020205020404" pitchFamily="49" charset="0"/>
                <a:cs typeface="Courier New" panose="02070309020205020404" pitchFamily="49" charset="0"/>
              </a:rPr>
              <a:t>        "-X",</a:t>
            </a:r>
          </a:p>
          <a:p>
            <a:r>
              <a:rPr lang="en-US" sz="1200" dirty="0">
                <a:solidFill>
                  <a:schemeClr val="tx1"/>
                </a:solidFill>
                <a:latin typeface="Courier New" panose="02070309020205020404" pitchFamily="49" charset="0"/>
                <a:cs typeface="Courier New" panose="02070309020205020404" pitchFamily="49" charset="0"/>
              </a:rPr>
              <a:t>        "POST",</a:t>
            </a:r>
          </a:p>
          <a:p>
            <a:r>
              <a:rPr lang="en-US" sz="1200" dirty="0">
                <a:solidFill>
                  <a:schemeClr val="tx1"/>
                </a:solidFill>
                <a:latin typeface="Courier New" panose="02070309020205020404" pitchFamily="49" charset="0"/>
                <a:cs typeface="Courier New" panose="02070309020205020404" pitchFamily="49" charset="0"/>
              </a:rPr>
              <a:t>        "https://</a:t>
            </a:r>
            <a:r>
              <a:rPr lang="en-US" sz="1200" dirty="0" err="1">
                <a:solidFill>
                  <a:schemeClr val="tx1"/>
                </a:solidFill>
                <a:latin typeface="Courier New" panose="02070309020205020404" pitchFamily="49" charset="0"/>
                <a:cs typeface="Courier New" panose="02070309020205020404" pitchFamily="49" charset="0"/>
              </a:rPr>
              <a:t>speed.cloudflare.com</a:t>
            </a:r>
            <a:r>
              <a:rPr lang="en-US" sz="1200" dirty="0">
                <a:solidFill>
                  <a:schemeClr val="tx1"/>
                </a:solidFill>
                <a:latin typeface="Courier New" panose="02070309020205020404" pitchFamily="49" charset="0"/>
                <a:cs typeface="Courier New" panose="02070309020205020404" pitchFamily="49" charset="0"/>
              </a:rPr>
              <a:t>/__up"</a:t>
            </a:r>
          </a:p>
          <a:p>
            <a:r>
              <a:rPr lang="en-US" sz="1200" dirty="0">
                <a:solidFill>
                  <a:schemeClr val="tx1"/>
                </a:solidFill>
                <a:latin typeface="Courier New" panose="02070309020205020404" pitchFamily="49" charset="0"/>
                <a:cs typeface="Courier New" panose="02070309020205020404" pitchFamily="49" charset="0"/>
              </a:rPr>
              <a:t>      ],</a:t>
            </a:r>
          </a:p>
          <a:p>
            <a:r>
              <a:rPr lang="en-US" sz="1200" dirty="0">
                <a:solidFill>
                  <a:schemeClr val="tx1"/>
                </a:solidFill>
                <a:latin typeface="Courier New" panose="02070309020205020404" pitchFamily="49" charset="0"/>
                <a:cs typeface="Courier New" panose="02070309020205020404" pitchFamily="49" charset="0"/>
              </a:rPr>
              <a:t>      "</a:t>
            </a:r>
            <a:r>
              <a:rPr lang="en-US" sz="1200" dirty="0" err="1">
                <a:solidFill>
                  <a:schemeClr val="tx1"/>
                </a:solidFill>
                <a:latin typeface="Courier New" panose="02070309020205020404" pitchFamily="49" charset="0"/>
                <a:cs typeface="Courier New" panose="02070309020205020404" pitchFamily="49" charset="0"/>
              </a:rPr>
              <a:t>includeWithCrash</a:t>
            </a:r>
            <a:r>
              <a:rPr lang="en-US" sz="1200" dirty="0">
                <a:solidFill>
                  <a:schemeClr val="tx1"/>
                </a:solidFill>
                <a:latin typeface="Courier New" panose="02070309020205020404" pitchFamily="49" charset="0"/>
                <a:cs typeface="Courier New" panose="02070309020205020404" pitchFamily="49" charset="0"/>
              </a:rPr>
              <a:t>": false,</a:t>
            </a:r>
          </a:p>
          <a:p>
            <a:r>
              <a:rPr lang="en-US" sz="1200" dirty="0">
                <a:solidFill>
                  <a:schemeClr val="tx1"/>
                </a:solidFill>
                <a:latin typeface="Courier New" panose="02070309020205020404" pitchFamily="49" charset="0"/>
                <a:cs typeface="Courier New" panose="02070309020205020404" pitchFamily="49" charset="0"/>
              </a:rPr>
              <a:t>      "</a:t>
            </a:r>
            <a:r>
              <a:rPr lang="en-US" sz="1200" dirty="0" err="1">
                <a:solidFill>
                  <a:schemeClr val="tx1"/>
                </a:solidFill>
                <a:latin typeface="Courier New" panose="02070309020205020404" pitchFamily="49" charset="0"/>
                <a:cs typeface="Courier New" panose="02070309020205020404" pitchFamily="49" charset="0"/>
              </a:rPr>
              <a:t>includeWithHang</a:t>
            </a:r>
            <a:r>
              <a:rPr lang="en-US" sz="1200" dirty="0">
                <a:solidFill>
                  <a:schemeClr val="tx1"/>
                </a:solidFill>
                <a:latin typeface="Courier New" panose="02070309020205020404" pitchFamily="49" charset="0"/>
                <a:cs typeface="Courier New" panose="02070309020205020404" pitchFamily="49" charset="0"/>
              </a:rPr>
              <a:t>": true</a:t>
            </a:r>
          </a:p>
          <a:p>
            <a:r>
              <a:rPr lang="en-US" sz="1200" dirty="0">
                <a:solidFill>
                  <a:schemeClr val="tx1"/>
                </a:solidFill>
                <a:latin typeface="Courier New" panose="02070309020205020404" pitchFamily="49" charset="0"/>
                <a:cs typeface="Courier New" panose="02070309020205020404" pitchFamily="49" charset="0"/>
              </a:rPr>
              <a:t>    }</a:t>
            </a:r>
          </a:p>
          <a:p>
            <a:r>
              <a:rPr lang="en-US" sz="1200" dirty="0">
                <a:solidFill>
                  <a:schemeClr val="tx1"/>
                </a:solidFill>
                <a:latin typeface="Courier New" panose="02070309020205020404" pitchFamily="49" charset="0"/>
                <a:cs typeface="Courier New" panose="02070309020205020404" pitchFamily="49" charset="0"/>
              </a:rPr>
              <a:t>  ]</a:t>
            </a:r>
          </a:p>
          <a:p>
            <a:r>
              <a:rPr lang="en-US" sz="1200" dirty="0">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854645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ADC70-537C-9158-18CE-2C926308B562}"/>
              </a:ext>
            </a:extLst>
          </p:cNvPr>
          <p:cNvSpPr>
            <a:spLocks noGrp="1"/>
          </p:cNvSpPr>
          <p:nvPr>
            <p:ph type="title"/>
          </p:nvPr>
        </p:nvSpPr>
        <p:spPr>
          <a:xfrm>
            <a:off x="170951" y="426720"/>
            <a:ext cx="11807689" cy="1320800"/>
          </a:xfrm>
        </p:spPr>
        <p:txBody>
          <a:bodyPr/>
          <a:lstStyle/>
          <a:p>
            <a:r>
              <a:rPr lang="en-US" dirty="0"/>
              <a:t>Logs Agent Client: Production‑Readiness Requirements</a:t>
            </a:r>
          </a:p>
        </p:txBody>
      </p:sp>
      <p:sp>
        <p:nvSpPr>
          <p:cNvPr id="5" name="TextBox 4">
            <a:extLst>
              <a:ext uri="{FF2B5EF4-FFF2-40B4-BE49-F238E27FC236}">
                <a16:creationId xmlns:a16="http://schemas.microsoft.com/office/drawing/2014/main" id="{301F6F42-E702-EB60-DB91-6F78AF33BFE7}"/>
              </a:ext>
            </a:extLst>
          </p:cNvPr>
          <p:cNvSpPr txBox="1"/>
          <p:nvPr/>
        </p:nvSpPr>
        <p:spPr>
          <a:xfrm>
            <a:off x="754912" y="1612858"/>
            <a:ext cx="7389628" cy="1738938"/>
          </a:xfrm>
          <a:prstGeom prst="rect">
            <a:avLst/>
          </a:prstGeom>
          <a:noFill/>
        </p:spPr>
        <p:txBody>
          <a:bodyPr wrap="square">
            <a:spAutoFit/>
          </a:bodyPr>
          <a:lstStyle/>
          <a:p>
            <a:pPr>
              <a:spcBef>
                <a:spcPts val="1000"/>
              </a:spcBef>
            </a:pPr>
            <a:r>
              <a:rPr lang="en-US" sz="1600" b="1" dirty="0"/>
              <a:t>Add</a:t>
            </a:r>
          </a:p>
          <a:p>
            <a:pPr marL="285750" indent="-285750">
              <a:spcBef>
                <a:spcPts val="1000"/>
              </a:spcBef>
              <a:buFont typeface="Arial" panose="020B0604020202020204" pitchFamily="34" charset="0"/>
              <a:buChar char="•"/>
            </a:pPr>
            <a:r>
              <a:rPr lang="en-US" sz="1600" dirty="0"/>
              <a:t>PII scrubbing</a:t>
            </a:r>
          </a:p>
          <a:p>
            <a:pPr marL="285750" indent="-285750">
              <a:spcBef>
                <a:spcPts val="1000"/>
              </a:spcBef>
              <a:buFont typeface="Arial" panose="020B0604020202020204" pitchFamily="34" charset="0"/>
              <a:buChar char="•"/>
            </a:pPr>
            <a:r>
              <a:rPr lang="en-US" sz="1600" dirty="0"/>
              <a:t>Support uploading large files in </a:t>
            </a:r>
            <a:r>
              <a:rPr lang="en-US" sz="1600"/>
              <a:t>chunks</a:t>
            </a:r>
            <a:r>
              <a:rPr lang="en-US" sz="1600" dirty="0"/>
              <a:t> (e.g., crash dumps)</a:t>
            </a:r>
          </a:p>
          <a:p>
            <a:pPr marL="285750" indent="-285750">
              <a:spcBef>
                <a:spcPts val="1000"/>
              </a:spcBef>
              <a:buFont typeface="Arial" panose="020B0604020202020204" pitchFamily="34" charset="0"/>
              <a:buChar char="•"/>
            </a:pPr>
            <a:r>
              <a:rPr lang="en-US" sz="1600" dirty="0"/>
              <a:t>Support resume uploading</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561980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7FCF8-3E60-71F2-E52A-6FF99A0D72D3}"/>
              </a:ext>
            </a:extLst>
          </p:cNvPr>
          <p:cNvSpPr>
            <a:spLocks noGrp="1"/>
          </p:cNvSpPr>
          <p:nvPr>
            <p:ph type="title"/>
          </p:nvPr>
        </p:nvSpPr>
        <p:spPr/>
        <p:txBody>
          <a:bodyPr/>
          <a:lstStyle/>
          <a:p>
            <a:r>
              <a:rPr lang="en-US" dirty="0"/>
              <a:t>Backend Service: Log Processing Pipeline</a:t>
            </a:r>
          </a:p>
        </p:txBody>
      </p:sp>
      <p:sp>
        <p:nvSpPr>
          <p:cNvPr id="5" name="Rounded Rectangle 4">
            <a:extLst>
              <a:ext uri="{FF2B5EF4-FFF2-40B4-BE49-F238E27FC236}">
                <a16:creationId xmlns:a16="http://schemas.microsoft.com/office/drawing/2014/main" id="{ACE67C48-2DD2-1E3A-D19D-07B68A909E61}"/>
              </a:ext>
            </a:extLst>
          </p:cNvPr>
          <p:cNvSpPr/>
          <p:nvPr/>
        </p:nvSpPr>
        <p:spPr>
          <a:xfrm>
            <a:off x="797442" y="1636091"/>
            <a:ext cx="1371600" cy="818706"/>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75000"/>
                    <a:lumOff val="25000"/>
                  </a:schemeClr>
                </a:solidFill>
              </a:rPr>
              <a:t>Log Ingestion</a:t>
            </a:r>
          </a:p>
        </p:txBody>
      </p:sp>
      <p:sp>
        <p:nvSpPr>
          <p:cNvPr id="6" name="Rounded Rectangle 5">
            <a:extLst>
              <a:ext uri="{FF2B5EF4-FFF2-40B4-BE49-F238E27FC236}">
                <a16:creationId xmlns:a16="http://schemas.microsoft.com/office/drawing/2014/main" id="{9BC735FE-FB44-F3DB-158B-1098AF0FB52A}"/>
              </a:ext>
            </a:extLst>
          </p:cNvPr>
          <p:cNvSpPr/>
          <p:nvPr/>
        </p:nvSpPr>
        <p:spPr>
          <a:xfrm>
            <a:off x="2938130" y="1636091"/>
            <a:ext cx="1371600" cy="818706"/>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75000"/>
                    <a:lumOff val="25000"/>
                  </a:schemeClr>
                </a:solidFill>
              </a:rPr>
              <a:t>Orchestrator</a:t>
            </a:r>
          </a:p>
        </p:txBody>
      </p:sp>
      <p:sp>
        <p:nvSpPr>
          <p:cNvPr id="7" name="Rounded Rectangle 6">
            <a:extLst>
              <a:ext uri="{FF2B5EF4-FFF2-40B4-BE49-F238E27FC236}">
                <a16:creationId xmlns:a16="http://schemas.microsoft.com/office/drawing/2014/main" id="{05B82299-6BC5-1153-1FA5-AB04814E2A59}"/>
              </a:ext>
            </a:extLst>
          </p:cNvPr>
          <p:cNvSpPr/>
          <p:nvPr/>
        </p:nvSpPr>
        <p:spPr>
          <a:xfrm>
            <a:off x="5078818" y="1636091"/>
            <a:ext cx="1371600" cy="818706"/>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75000"/>
                    <a:lumOff val="25000"/>
                  </a:schemeClr>
                </a:solidFill>
              </a:rPr>
              <a:t>Issue Processors</a:t>
            </a:r>
          </a:p>
        </p:txBody>
      </p:sp>
      <p:sp>
        <p:nvSpPr>
          <p:cNvPr id="8" name="Rounded Rectangle 7">
            <a:extLst>
              <a:ext uri="{FF2B5EF4-FFF2-40B4-BE49-F238E27FC236}">
                <a16:creationId xmlns:a16="http://schemas.microsoft.com/office/drawing/2014/main" id="{73F72FFF-DBF4-4ED2-C841-F35E263CDC94}"/>
              </a:ext>
            </a:extLst>
          </p:cNvPr>
          <p:cNvSpPr/>
          <p:nvPr/>
        </p:nvSpPr>
        <p:spPr>
          <a:xfrm>
            <a:off x="7219506" y="1636091"/>
            <a:ext cx="1371600" cy="818706"/>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75000"/>
                    <a:lumOff val="25000"/>
                  </a:schemeClr>
                </a:solidFill>
              </a:rPr>
              <a:t>Issue Ticket</a:t>
            </a:r>
          </a:p>
          <a:p>
            <a:pPr algn="ctr"/>
            <a:r>
              <a:rPr lang="en-US" sz="1200" dirty="0">
                <a:solidFill>
                  <a:schemeClr val="tx1">
                    <a:lumMod val="75000"/>
                    <a:lumOff val="25000"/>
                  </a:schemeClr>
                </a:solidFill>
              </a:rPr>
              <a:t>Bug Ticket</a:t>
            </a:r>
          </a:p>
          <a:p>
            <a:pPr algn="ctr"/>
            <a:r>
              <a:rPr lang="en-US" sz="1200" dirty="0">
                <a:solidFill>
                  <a:schemeClr val="tx1">
                    <a:lumMod val="75000"/>
                    <a:lumOff val="25000"/>
                  </a:schemeClr>
                </a:solidFill>
              </a:rPr>
              <a:t>Resolution</a:t>
            </a:r>
          </a:p>
          <a:p>
            <a:pPr algn="ctr"/>
            <a:r>
              <a:rPr lang="en-US" sz="1200" dirty="0">
                <a:solidFill>
                  <a:schemeClr val="tx1">
                    <a:lumMod val="75000"/>
                    <a:lumOff val="25000"/>
                  </a:schemeClr>
                </a:solidFill>
              </a:rPr>
              <a:t>Update Configs</a:t>
            </a:r>
          </a:p>
        </p:txBody>
      </p:sp>
      <p:cxnSp>
        <p:nvCxnSpPr>
          <p:cNvPr id="11" name="Straight Arrow Connector 10">
            <a:extLst>
              <a:ext uri="{FF2B5EF4-FFF2-40B4-BE49-F238E27FC236}">
                <a16:creationId xmlns:a16="http://schemas.microsoft.com/office/drawing/2014/main" id="{CC7CE7EB-C112-F8B0-61D4-7710A8442DDA}"/>
              </a:ext>
            </a:extLst>
          </p:cNvPr>
          <p:cNvCxnSpPr>
            <a:stCxn id="5" idx="3"/>
            <a:endCxn id="6" idx="1"/>
          </p:cNvCxnSpPr>
          <p:nvPr/>
        </p:nvCxnSpPr>
        <p:spPr>
          <a:xfrm>
            <a:off x="2169042" y="2045444"/>
            <a:ext cx="7690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B2A9F35-FFDC-C95D-04BD-FDCE289A97ED}"/>
              </a:ext>
            </a:extLst>
          </p:cNvPr>
          <p:cNvCxnSpPr/>
          <p:nvPr/>
        </p:nvCxnSpPr>
        <p:spPr>
          <a:xfrm>
            <a:off x="4309730" y="2064937"/>
            <a:ext cx="7690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1FCACF3-23DE-71E4-B4D7-6CBF2CA38BCB}"/>
              </a:ext>
            </a:extLst>
          </p:cNvPr>
          <p:cNvCxnSpPr/>
          <p:nvPr/>
        </p:nvCxnSpPr>
        <p:spPr>
          <a:xfrm>
            <a:off x="6450418" y="2064937"/>
            <a:ext cx="7690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Can 15">
            <a:extLst>
              <a:ext uri="{FF2B5EF4-FFF2-40B4-BE49-F238E27FC236}">
                <a16:creationId xmlns:a16="http://schemas.microsoft.com/office/drawing/2014/main" id="{9B5D9E53-FDAC-998D-6494-39F007974321}"/>
              </a:ext>
            </a:extLst>
          </p:cNvPr>
          <p:cNvSpPr/>
          <p:nvPr/>
        </p:nvSpPr>
        <p:spPr>
          <a:xfrm>
            <a:off x="3460570" y="3283328"/>
            <a:ext cx="867944" cy="877308"/>
          </a:xfrm>
          <a:prstGeom prst="ca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Signatures</a:t>
            </a:r>
          </a:p>
        </p:txBody>
      </p:sp>
      <p:sp>
        <p:nvSpPr>
          <p:cNvPr id="17" name="Can 16">
            <a:extLst>
              <a:ext uri="{FF2B5EF4-FFF2-40B4-BE49-F238E27FC236}">
                <a16:creationId xmlns:a16="http://schemas.microsoft.com/office/drawing/2014/main" id="{BCFCE7E5-847C-7B52-C085-979B5F3D40F9}"/>
              </a:ext>
            </a:extLst>
          </p:cNvPr>
          <p:cNvSpPr/>
          <p:nvPr/>
        </p:nvSpPr>
        <p:spPr>
          <a:xfrm>
            <a:off x="7802151" y="3302822"/>
            <a:ext cx="870222" cy="877306"/>
          </a:xfrm>
          <a:prstGeom prst="ca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KBs</a:t>
            </a:r>
          </a:p>
        </p:txBody>
      </p:sp>
      <p:cxnSp>
        <p:nvCxnSpPr>
          <p:cNvPr id="21" name="Elbow Connector 20">
            <a:extLst>
              <a:ext uri="{FF2B5EF4-FFF2-40B4-BE49-F238E27FC236}">
                <a16:creationId xmlns:a16="http://schemas.microsoft.com/office/drawing/2014/main" id="{9DFEEE9A-53A8-5681-98CD-13F979E6E9FC}"/>
              </a:ext>
            </a:extLst>
          </p:cNvPr>
          <p:cNvCxnSpPr>
            <a:cxnSpLocks/>
            <a:stCxn id="7" idx="2"/>
            <a:endCxn id="16" idx="1"/>
          </p:cNvCxnSpPr>
          <p:nvPr/>
        </p:nvCxnSpPr>
        <p:spPr>
          <a:xfrm rot="5400000">
            <a:off x="4415315" y="1934024"/>
            <a:ext cx="828531" cy="187007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3" name="Elbow Connector 22">
            <a:extLst>
              <a:ext uri="{FF2B5EF4-FFF2-40B4-BE49-F238E27FC236}">
                <a16:creationId xmlns:a16="http://schemas.microsoft.com/office/drawing/2014/main" id="{79B1ACDC-B461-37A8-A70E-0E446996F2A7}"/>
              </a:ext>
            </a:extLst>
          </p:cNvPr>
          <p:cNvCxnSpPr>
            <a:cxnSpLocks/>
            <a:stCxn id="7" idx="2"/>
            <a:endCxn id="17" idx="1"/>
          </p:cNvCxnSpPr>
          <p:nvPr/>
        </p:nvCxnSpPr>
        <p:spPr>
          <a:xfrm rot="16200000" flipH="1">
            <a:off x="6576928" y="1642487"/>
            <a:ext cx="848025" cy="2472644"/>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28" name="Can 27">
            <a:extLst>
              <a:ext uri="{FF2B5EF4-FFF2-40B4-BE49-F238E27FC236}">
                <a16:creationId xmlns:a16="http://schemas.microsoft.com/office/drawing/2014/main" id="{8A55BEAD-4D14-C360-3D0D-5624C5621213}"/>
              </a:ext>
            </a:extLst>
          </p:cNvPr>
          <p:cNvSpPr/>
          <p:nvPr/>
        </p:nvSpPr>
        <p:spPr>
          <a:xfrm>
            <a:off x="2028542" y="3332124"/>
            <a:ext cx="867944" cy="818703"/>
          </a:xfrm>
          <a:prstGeom prst="ca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Logs</a:t>
            </a:r>
          </a:p>
        </p:txBody>
      </p:sp>
      <p:cxnSp>
        <p:nvCxnSpPr>
          <p:cNvPr id="30" name="Elbow Connector 29">
            <a:extLst>
              <a:ext uri="{FF2B5EF4-FFF2-40B4-BE49-F238E27FC236}">
                <a16:creationId xmlns:a16="http://schemas.microsoft.com/office/drawing/2014/main" id="{A7C9307B-22D5-D9C7-9986-CB730FD4F8CF}"/>
              </a:ext>
            </a:extLst>
          </p:cNvPr>
          <p:cNvCxnSpPr>
            <a:cxnSpLocks/>
            <a:stCxn id="5" idx="2"/>
            <a:endCxn id="28" idx="1"/>
          </p:cNvCxnSpPr>
          <p:nvPr/>
        </p:nvCxnSpPr>
        <p:spPr>
          <a:xfrm rot="16200000" flipH="1">
            <a:off x="1534215" y="2403824"/>
            <a:ext cx="877327" cy="979272"/>
          </a:xfrm>
          <a:prstGeom prst="bentConnector3">
            <a:avLst>
              <a:gd name="adj1" fmla="val 4839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Elbow Connector 31">
            <a:extLst>
              <a:ext uri="{FF2B5EF4-FFF2-40B4-BE49-F238E27FC236}">
                <a16:creationId xmlns:a16="http://schemas.microsoft.com/office/drawing/2014/main" id="{3B70BFC2-2D9B-CDA1-E7EF-D3789E5624A2}"/>
              </a:ext>
            </a:extLst>
          </p:cNvPr>
          <p:cNvCxnSpPr>
            <a:cxnSpLocks/>
            <a:stCxn id="6" idx="2"/>
            <a:endCxn id="28" idx="1"/>
          </p:cNvCxnSpPr>
          <p:nvPr/>
        </p:nvCxnSpPr>
        <p:spPr>
          <a:xfrm rot="5400000">
            <a:off x="2604559" y="2312752"/>
            <a:ext cx="877327" cy="1161416"/>
          </a:xfrm>
          <a:prstGeom prst="bentConnector3">
            <a:avLst>
              <a:gd name="adj1" fmla="val 47576"/>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Can 33">
            <a:extLst>
              <a:ext uri="{FF2B5EF4-FFF2-40B4-BE49-F238E27FC236}">
                <a16:creationId xmlns:a16="http://schemas.microsoft.com/office/drawing/2014/main" id="{521CC1DC-9FEB-6908-5871-92D713DB06B2}"/>
              </a:ext>
            </a:extLst>
          </p:cNvPr>
          <p:cNvSpPr/>
          <p:nvPr/>
        </p:nvSpPr>
        <p:spPr>
          <a:xfrm>
            <a:off x="6349413" y="3302821"/>
            <a:ext cx="867944" cy="877307"/>
          </a:xfrm>
          <a:prstGeom prst="ca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Bugs</a:t>
            </a:r>
          </a:p>
        </p:txBody>
      </p:sp>
      <p:sp>
        <p:nvSpPr>
          <p:cNvPr id="44" name="Can 43">
            <a:extLst>
              <a:ext uri="{FF2B5EF4-FFF2-40B4-BE49-F238E27FC236}">
                <a16:creationId xmlns:a16="http://schemas.microsoft.com/office/drawing/2014/main" id="{C9C18BF4-EF04-73BF-7FF4-C16C8CC5A497}"/>
              </a:ext>
            </a:extLst>
          </p:cNvPr>
          <p:cNvSpPr/>
          <p:nvPr/>
        </p:nvSpPr>
        <p:spPr>
          <a:xfrm>
            <a:off x="4904991" y="3332124"/>
            <a:ext cx="867944" cy="877307"/>
          </a:xfrm>
          <a:prstGeom prst="ca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Issues</a:t>
            </a:r>
          </a:p>
        </p:txBody>
      </p:sp>
      <p:cxnSp>
        <p:nvCxnSpPr>
          <p:cNvPr id="47" name="Elbow Connector 46">
            <a:extLst>
              <a:ext uri="{FF2B5EF4-FFF2-40B4-BE49-F238E27FC236}">
                <a16:creationId xmlns:a16="http://schemas.microsoft.com/office/drawing/2014/main" id="{5FCF78A1-4A4A-C304-BDF1-97CA5E8B356A}"/>
              </a:ext>
            </a:extLst>
          </p:cNvPr>
          <p:cNvCxnSpPr>
            <a:stCxn id="7" idx="2"/>
            <a:endCxn id="28" idx="1"/>
          </p:cNvCxnSpPr>
          <p:nvPr/>
        </p:nvCxnSpPr>
        <p:spPr>
          <a:xfrm rot="5400000">
            <a:off x="3674903" y="1242408"/>
            <a:ext cx="877327" cy="3302104"/>
          </a:xfrm>
          <a:prstGeom prst="bentConnector3">
            <a:avLst>
              <a:gd name="adj1" fmla="val 46792"/>
            </a:avLst>
          </a:prstGeom>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6DE0E50E-0539-99B7-F596-9ECA96093C27}"/>
              </a:ext>
            </a:extLst>
          </p:cNvPr>
          <p:cNvSpPr txBox="1"/>
          <p:nvPr/>
        </p:nvSpPr>
        <p:spPr>
          <a:xfrm>
            <a:off x="1030989" y="4488535"/>
            <a:ext cx="7889358" cy="2210862"/>
          </a:xfrm>
          <a:prstGeom prst="rect">
            <a:avLst/>
          </a:prstGeom>
          <a:noFill/>
        </p:spPr>
        <p:txBody>
          <a:bodyPr wrap="square">
            <a:spAutoFit/>
          </a:bodyPr>
          <a:lstStyle/>
          <a:p>
            <a:pPr marL="285750" indent="-285750">
              <a:spcBef>
                <a:spcPts val="1000"/>
              </a:spcBef>
              <a:buFont typeface="Arial" panose="020B0604020202020204" pitchFamily="34" charset="0"/>
              <a:buChar char="•"/>
            </a:pPr>
            <a:r>
              <a:rPr lang="en-US" sz="1600" dirty="0"/>
              <a:t>Handle burst traffic with queue</a:t>
            </a:r>
          </a:p>
          <a:p>
            <a:pPr marL="285750" indent="-285750">
              <a:spcBef>
                <a:spcPts val="1000"/>
              </a:spcBef>
              <a:buFont typeface="Arial" panose="020B0604020202020204" pitchFamily="34" charset="0"/>
              <a:buChar char="•"/>
            </a:pPr>
            <a:r>
              <a:rPr lang="en-US" sz="1600" dirty="0"/>
              <a:t>Validate &amp; normalize incoming logs</a:t>
            </a:r>
          </a:p>
          <a:p>
            <a:pPr marL="285750" indent="-285750">
              <a:spcBef>
                <a:spcPts val="1000"/>
              </a:spcBef>
              <a:buFont typeface="Arial" panose="020B0604020202020204" pitchFamily="34" charset="0"/>
              <a:buChar char="•"/>
            </a:pPr>
            <a:r>
              <a:rPr lang="en-US" sz="1600" dirty="0"/>
              <a:t>Route by type (crash/hang/general)</a:t>
            </a:r>
          </a:p>
          <a:p>
            <a:pPr marL="285750" indent="-285750">
              <a:spcBef>
                <a:spcPts val="1000"/>
              </a:spcBef>
              <a:buFont typeface="Arial" panose="020B0604020202020204" pitchFamily="34" charset="0"/>
              <a:buChar char="•"/>
            </a:pPr>
            <a:r>
              <a:rPr lang="en-US" sz="1600" dirty="0"/>
              <a:t>Fuzzy match against known signatures</a:t>
            </a:r>
          </a:p>
          <a:p>
            <a:pPr marL="285750" indent="-285750">
              <a:spcBef>
                <a:spcPts val="1000"/>
              </a:spcBef>
              <a:buFont typeface="Arial" panose="020B0604020202020204" pitchFamily="34" charset="0"/>
              <a:buChar char="•"/>
            </a:pPr>
            <a:r>
              <a:rPr lang="en-US" sz="1600" dirty="0"/>
              <a:t>If match found + has resolution → auto-resolve → notify enterprise admins</a:t>
            </a:r>
          </a:p>
          <a:p>
            <a:pPr marL="285750" indent="-285750">
              <a:spcBef>
                <a:spcPts val="1000"/>
              </a:spcBef>
              <a:buFont typeface="Arial" panose="020B0604020202020204" pitchFamily="34" charset="0"/>
              <a:buChar char="•"/>
            </a:pPr>
            <a:r>
              <a:rPr lang="en-US" sz="1600" dirty="0"/>
              <a:t>If no match → create new issue ticket, bug ticket</a:t>
            </a:r>
          </a:p>
        </p:txBody>
      </p:sp>
      <p:cxnSp>
        <p:nvCxnSpPr>
          <p:cNvPr id="55" name="Elbow Connector 54">
            <a:extLst>
              <a:ext uri="{FF2B5EF4-FFF2-40B4-BE49-F238E27FC236}">
                <a16:creationId xmlns:a16="http://schemas.microsoft.com/office/drawing/2014/main" id="{9CCACF5A-B80E-9F35-6121-24CFDB08AA25}"/>
              </a:ext>
            </a:extLst>
          </p:cNvPr>
          <p:cNvCxnSpPr>
            <a:cxnSpLocks/>
            <a:stCxn id="7" idx="2"/>
            <a:endCxn id="44" idx="1"/>
          </p:cNvCxnSpPr>
          <p:nvPr/>
        </p:nvCxnSpPr>
        <p:spPr>
          <a:xfrm rot="5400000">
            <a:off x="5113128" y="2680633"/>
            <a:ext cx="877327" cy="425655"/>
          </a:xfrm>
          <a:prstGeom prst="bentConnector3">
            <a:avLst>
              <a:gd name="adj1" fmla="val 48697"/>
            </a:avLst>
          </a:prstGeom>
        </p:spPr>
        <p:style>
          <a:lnRef idx="1">
            <a:schemeClr val="accent1"/>
          </a:lnRef>
          <a:fillRef idx="0">
            <a:schemeClr val="accent1"/>
          </a:fillRef>
          <a:effectRef idx="0">
            <a:schemeClr val="accent1"/>
          </a:effectRef>
          <a:fontRef idx="minor">
            <a:schemeClr val="tx1"/>
          </a:fontRef>
        </p:style>
      </p:cxnSp>
      <p:cxnSp>
        <p:nvCxnSpPr>
          <p:cNvPr id="59" name="Elbow Connector 58">
            <a:extLst>
              <a:ext uri="{FF2B5EF4-FFF2-40B4-BE49-F238E27FC236}">
                <a16:creationId xmlns:a16="http://schemas.microsoft.com/office/drawing/2014/main" id="{D8A57716-70F2-60D8-4B35-50EFE66565F8}"/>
              </a:ext>
            </a:extLst>
          </p:cNvPr>
          <p:cNvCxnSpPr>
            <a:cxnSpLocks/>
            <a:stCxn id="7" idx="2"/>
            <a:endCxn id="34" idx="1"/>
          </p:cNvCxnSpPr>
          <p:nvPr/>
        </p:nvCxnSpPr>
        <p:spPr>
          <a:xfrm rot="16200000" flipH="1">
            <a:off x="5849989" y="2369425"/>
            <a:ext cx="848024" cy="101876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32100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6FA83-FBAC-768C-90CF-228C06AFE9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3718BC-2A1F-F28C-FF1C-D426DD8B5692}"/>
              </a:ext>
            </a:extLst>
          </p:cNvPr>
          <p:cNvSpPr>
            <a:spLocks noGrp="1"/>
          </p:cNvSpPr>
          <p:nvPr>
            <p:ph type="title"/>
          </p:nvPr>
        </p:nvSpPr>
        <p:spPr>
          <a:xfrm>
            <a:off x="677334" y="609600"/>
            <a:ext cx="9640558" cy="1320800"/>
          </a:xfrm>
        </p:spPr>
        <p:txBody>
          <a:bodyPr/>
          <a:lstStyle/>
          <a:p>
            <a:r>
              <a:rPr lang="en-US" dirty="0"/>
              <a:t>Backend Service: Smart Diagnostic</a:t>
            </a:r>
          </a:p>
        </p:txBody>
      </p:sp>
      <p:sp>
        <p:nvSpPr>
          <p:cNvPr id="15" name="TextBox 14">
            <a:extLst>
              <a:ext uri="{FF2B5EF4-FFF2-40B4-BE49-F238E27FC236}">
                <a16:creationId xmlns:a16="http://schemas.microsoft.com/office/drawing/2014/main" id="{EED7EBBF-A548-89B0-1DD7-E5B8A35EB71A}"/>
              </a:ext>
            </a:extLst>
          </p:cNvPr>
          <p:cNvSpPr txBox="1"/>
          <p:nvPr/>
        </p:nvSpPr>
        <p:spPr>
          <a:xfrm>
            <a:off x="677334" y="1610625"/>
            <a:ext cx="9640558" cy="3985706"/>
          </a:xfrm>
          <a:prstGeom prst="rect">
            <a:avLst/>
          </a:prstGeom>
          <a:noFill/>
        </p:spPr>
        <p:txBody>
          <a:bodyPr wrap="square">
            <a:spAutoFit/>
          </a:bodyPr>
          <a:lstStyle/>
          <a:p>
            <a:pPr>
              <a:spcBef>
                <a:spcPts val="1000"/>
              </a:spcBef>
            </a:pPr>
            <a:r>
              <a:rPr lang="en-US" b="1" dirty="0"/>
              <a:t>Key: Signature matching for resolution</a:t>
            </a:r>
          </a:p>
          <a:p>
            <a:pPr marL="285750" indent="-285750">
              <a:spcBef>
                <a:spcPts val="1000"/>
              </a:spcBef>
              <a:buFont typeface="Arial" panose="020B0604020202020204" pitchFamily="34" charset="0"/>
              <a:buChar char="•"/>
            </a:pPr>
            <a:r>
              <a:rPr lang="en-US" sz="1600" dirty="0"/>
              <a:t>Engineers create signatures for known crash, hang, or general issues.</a:t>
            </a:r>
          </a:p>
          <a:p>
            <a:pPr marL="285750" indent="-285750">
              <a:spcBef>
                <a:spcPts val="1000"/>
              </a:spcBef>
              <a:buFont typeface="Arial" panose="020B0604020202020204" pitchFamily="34" charset="0"/>
              <a:buChar char="•"/>
            </a:pPr>
            <a:r>
              <a:rPr lang="en-US" sz="1600" dirty="0"/>
              <a:t>Logs are matched against signatures to find known resolutions</a:t>
            </a:r>
          </a:p>
          <a:p>
            <a:pPr marL="285750" indent="-285750">
              <a:spcBef>
                <a:spcPts val="1000"/>
              </a:spcBef>
              <a:buFont typeface="Arial" panose="020B0604020202020204" pitchFamily="34" charset="0"/>
              <a:buChar char="•"/>
            </a:pPr>
            <a:r>
              <a:rPr lang="en-US" sz="1600" dirty="0"/>
              <a:t>Fuzzy matching handles slight variations</a:t>
            </a:r>
            <a:br>
              <a:rPr lang="en-US" sz="1600" dirty="0"/>
            </a:br>
            <a:endParaRPr lang="en-US" sz="1600" dirty="0"/>
          </a:p>
          <a:p>
            <a:pPr>
              <a:spcBef>
                <a:spcPts val="1000"/>
              </a:spcBef>
            </a:pPr>
            <a:r>
              <a:rPr lang="en-US" sz="1600" b="1" dirty="0"/>
              <a:t>Trade-off: Signature matching vs ML-based resolution</a:t>
            </a:r>
          </a:p>
          <a:p>
            <a:pPr marL="285750" indent="-285750">
              <a:spcBef>
                <a:spcPts val="1000"/>
              </a:spcBef>
              <a:buFont typeface="Arial" panose="020B0604020202020204" pitchFamily="34" charset="0"/>
              <a:buChar char="•"/>
            </a:pPr>
            <a:r>
              <a:rPr lang="en-US" sz="1600" dirty="0"/>
              <a:t>Signature matching is interpretable — engineers see exactly why an issue matched</a:t>
            </a:r>
          </a:p>
          <a:p>
            <a:pPr marL="285750" indent="-285750">
              <a:spcBef>
                <a:spcPts val="1000"/>
              </a:spcBef>
              <a:buFont typeface="Arial" panose="020B0604020202020204" pitchFamily="34" charset="0"/>
              <a:buChar char="•"/>
            </a:pPr>
            <a:r>
              <a:rPr lang="en-US" sz="1600" dirty="0"/>
              <a:t>Controllable — add/edit/remove signatures without retraining </a:t>
            </a:r>
          </a:p>
          <a:p>
            <a:pPr marL="285750" indent="-285750">
              <a:spcBef>
                <a:spcPts val="1000"/>
              </a:spcBef>
              <a:buFont typeface="Arial" panose="020B0604020202020204" pitchFamily="34" charset="0"/>
              <a:buChar char="•"/>
            </a:pPr>
            <a:r>
              <a:rPr lang="en-US" sz="1600" dirty="0"/>
              <a:t>No cold start — works day one without labeled training data</a:t>
            </a:r>
          </a:p>
          <a:p>
            <a:pPr marL="285750" indent="-285750">
              <a:spcBef>
                <a:spcPts val="1000"/>
              </a:spcBef>
              <a:buFont typeface="Arial" panose="020B0604020202020204" pitchFamily="34" charset="0"/>
              <a:buChar char="•"/>
            </a:pPr>
            <a:r>
              <a:rPr lang="en-US" sz="1600" dirty="0"/>
              <a:t>Future: ML could catch unknown patterns once we have labeled data from resolved issues</a:t>
            </a:r>
          </a:p>
          <a:p>
            <a:pPr>
              <a:spcBef>
                <a:spcPts val="1000"/>
              </a:spcBef>
            </a:pPr>
            <a:endParaRPr lang="en-US" sz="1600" dirty="0"/>
          </a:p>
        </p:txBody>
      </p:sp>
    </p:spTree>
    <p:extLst>
      <p:ext uri="{BB962C8B-B14F-4D97-AF65-F5344CB8AC3E}">
        <p14:creationId xmlns:p14="http://schemas.microsoft.com/office/powerpoint/2010/main" val="4488640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06359-0D0E-9CE3-3F4C-0260098815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08585D-06DB-A993-9540-16E0B7C5F3C8}"/>
              </a:ext>
            </a:extLst>
          </p:cNvPr>
          <p:cNvSpPr>
            <a:spLocks noGrp="1"/>
          </p:cNvSpPr>
          <p:nvPr>
            <p:ph type="title"/>
          </p:nvPr>
        </p:nvSpPr>
        <p:spPr>
          <a:xfrm>
            <a:off x="677334" y="609600"/>
            <a:ext cx="10684086" cy="1320800"/>
          </a:xfrm>
        </p:spPr>
        <p:txBody>
          <a:bodyPr/>
          <a:lstStyle/>
          <a:p>
            <a:r>
              <a:rPr lang="en-US" dirty="0"/>
              <a:t>Backend Service: Smart Diagnostic (Continued)</a:t>
            </a:r>
          </a:p>
        </p:txBody>
      </p:sp>
      <p:sp>
        <p:nvSpPr>
          <p:cNvPr id="15" name="TextBox 14">
            <a:extLst>
              <a:ext uri="{FF2B5EF4-FFF2-40B4-BE49-F238E27FC236}">
                <a16:creationId xmlns:a16="http://schemas.microsoft.com/office/drawing/2014/main" id="{7C74B950-50E2-8E5C-9DA9-2464DA23A91A}"/>
              </a:ext>
            </a:extLst>
          </p:cNvPr>
          <p:cNvSpPr txBox="1"/>
          <p:nvPr/>
        </p:nvSpPr>
        <p:spPr>
          <a:xfrm>
            <a:off x="677334" y="1610625"/>
            <a:ext cx="7889358" cy="2113399"/>
          </a:xfrm>
          <a:prstGeom prst="rect">
            <a:avLst/>
          </a:prstGeom>
          <a:noFill/>
        </p:spPr>
        <p:txBody>
          <a:bodyPr wrap="square">
            <a:spAutoFit/>
          </a:bodyPr>
          <a:lstStyle/>
          <a:p>
            <a:pPr>
              <a:spcBef>
                <a:spcPts val="1000"/>
              </a:spcBef>
            </a:pPr>
            <a:r>
              <a:rPr lang="en-US" b="1" dirty="0"/>
              <a:t>For Unknown Issues,</a:t>
            </a:r>
            <a:endParaRPr lang="en-US" dirty="0"/>
          </a:p>
          <a:p>
            <a:pPr marL="285750" indent="-285750">
              <a:spcBef>
                <a:spcPts val="1000"/>
              </a:spcBef>
              <a:buFont typeface="Arial" panose="020B0604020202020204" pitchFamily="34" charset="0"/>
              <a:buChar char="•"/>
            </a:pPr>
            <a:r>
              <a:rPr lang="en-US" sz="1600" dirty="0"/>
              <a:t>Engineer analyzes and determines what additional data is needed</a:t>
            </a:r>
          </a:p>
          <a:p>
            <a:pPr marL="285750" indent="-285750">
              <a:spcBef>
                <a:spcPts val="1000"/>
              </a:spcBef>
              <a:buFont typeface="Arial" panose="020B0604020202020204" pitchFamily="34" charset="0"/>
              <a:buChar char="•"/>
            </a:pPr>
            <a:r>
              <a:rPr lang="en-US" sz="1600" dirty="0"/>
              <a:t>Engineer updates diagnostic configs → notifies enterprise admin → pushes to logs agent → logs agent collects</a:t>
            </a:r>
          </a:p>
          <a:p>
            <a:pPr marL="285750" indent="-285750">
              <a:spcBef>
                <a:spcPts val="1000"/>
              </a:spcBef>
              <a:buFont typeface="Arial" panose="020B0604020202020204" pitchFamily="34" charset="0"/>
              <a:buChar char="•"/>
            </a:pPr>
            <a:r>
              <a:rPr lang="en-US" sz="1600" dirty="0"/>
              <a:t>Enables rapid iteration</a:t>
            </a:r>
          </a:p>
          <a:p>
            <a:pPr marL="285750" indent="-285750">
              <a:spcBef>
                <a:spcPts val="1000"/>
              </a:spcBef>
              <a:buFont typeface="Arial" panose="020B0604020202020204" pitchFamily="34" charset="0"/>
              <a:buChar char="•"/>
            </a:pPr>
            <a:endParaRPr lang="en-US" sz="1600" dirty="0"/>
          </a:p>
        </p:txBody>
      </p:sp>
    </p:spTree>
    <p:extLst>
      <p:ext uri="{BB962C8B-B14F-4D97-AF65-F5344CB8AC3E}">
        <p14:creationId xmlns:p14="http://schemas.microsoft.com/office/powerpoint/2010/main" val="860051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92902-C377-C735-A109-8D4E18C7B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6E5566-55DC-0949-D950-24ABBCBD58E7}"/>
              </a:ext>
            </a:extLst>
          </p:cNvPr>
          <p:cNvSpPr>
            <a:spLocks noGrp="1"/>
          </p:cNvSpPr>
          <p:nvPr>
            <p:ph type="title"/>
          </p:nvPr>
        </p:nvSpPr>
        <p:spPr>
          <a:xfrm>
            <a:off x="677334" y="609600"/>
            <a:ext cx="9640558" cy="1320800"/>
          </a:xfrm>
        </p:spPr>
        <p:txBody>
          <a:bodyPr/>
          <a:lstStyle/>
          <a:p>
            <a:r>
              <a:rPr lang="en-US" dirty="0"/>
              <a:t>Backend Service: Support Portal</a:t>
            </a:r>
          </a:p>
        </p:txBody>
      </p:sp>
      <p:sp>
        <p:nvSpPr>
          <p:cNvPr id="15" name="TextBox 14">
            <a:extLst>
              <a:ext uri="{FF2B5EF4-FFF2-40B4-BE49-F238E27FC236}">
                <a16:creationId xmlns:a16="http://schemas.microsoft.com/office/drawing/2014/main" id="{B3DFCA73-C039-D84F-9F58-47E38B43B65F}"/>
              </a:ext>
            </a:extLst>
          </p:cNvPr>
          <p:cNvSpPr txBox="1"/>
          <p:nvPr/>
        </p:nvSpPr>
        <p:spPr>
          <a:xfrm>
            <a:off x="677334" y="1610625"/>
            <a:ext cx="7889358" cy="1836400"/>
          </a:xfrm>
          <a:prstGeom prst="rect">
            <a:avLst/>
          </a:prstGeom>
          <a:noFill/>
        </p:spPr>
        <p:txBody>
          <a:bodyPr wrap="square">
            <a:spAutoFit/>
          </a:bodyPr>
          <a:lstStyle/>
          <a:p>
            <a:pPr>
              <a:spcBef>
                <a:spcPts val="1000"/>
              </a:spcBef>
            </a:pPr>
            <a:r>
              <a:rPr lang="en-US" sz="1600" dirty="0"/>
              <a:t>Support CRUD operations of</a:t>
            </a:r>
          </a:p>
          <a:p>
            <a:pPr marL="285750" indent="-285750">
              <a:spcBef>
                <a:spcPts val="1000"/>
              </a:spcBef>
              <a:buFont typeface="Arial" panose="020B0604020202020204" pitchFamily="34" charset="0"/>
              <a:buChar char="•"/>
            </a:pPr>
            <a:r>
              <a:rPr lang="en-US" sz="1600" dirty="0"/>
              <a:t>Issues</a:t>
            </a:r>
          </a:p>
          <a:p>
            <a:pPr marL="285750" indent="-285750">
              <a:spcBef>
                <a:spcPts val="1000"/>
              </a:spcBef>
              <a:buFont typeface="Arial" panose="020B0604020202020204" pitchFamily="34" charset="0"/>
              <a:buChar char="•"/>
            </a:pPr>
            <a:r>
              <a:rPr lang="en-US" sz="1600" dirty="0"/>
              <a:t>Signatures</a:t>
            </a:r>
          </a:p>
          <a:p>
            <a:pPr marL="285750" indent="-285750">
              <a:spcBef>
                <a:spcPts val="1000"/>
              </a:spcBef>
              <a:buFont typeface="Arial" panose="020B0604020202020204" pitchFamily="34" charset="0"/>
              <a:buChar char="•"/>
            </a:pPr>
            <a:r>
              <a:rPr lang="en-US" sz="1600" dirty="0"/>
              <a:t>Diagnostic Configs</a:t>
            </a:r>
          </a:p>
          <a:p>
            <a:pPr>
              <a:spcBef>
                <a:spcPts val="1000"/>
              </a:spcBef>
            </a:pPr>
            <a:endParaRPr lang="en-US" sz="1600" dirty="0"/>
          </a:p>
        </p:txBody>
      </p:sp>
    </p:spTree>
    <p:extLst>
      <p:ext uri="{BB962C8B-B14F-4D97-AF65-F5344CB8AC3E}">
        <p14:creationId xmlns:p14="http://schemas.microsoft.com/office/powerpoint/2010/main" val="36055526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03481-4145-C3F2-67D5-FB4E070343EF}"/>
              </a:ext>
            </a:extLst>
          </p:cNvPr>
          <p:cNvSpPr>
            <a:spLocks noGrp="1"/>
          </p:cNvSpPr>
          <p:nvPr>
            <p:ph type="title"/>
          </p:nvPr>
        </p:nvSpPr>
        <p:spPr>
          <a:xfrm>
            <a:off x="677333" y="609600"/>
            <a:ext cx="9704623" cy="1320800"/>
          </a:xfrm>
        </p:spPr>
        <p:txBody>
          <a:bodyPr/>
          <a:lstStyle/>
          <a:p>
            <a:r>
              <a:rPr lang="en-US" dirty="0"/>
              <a:t>Backend Service: Production‑Readiness Requirements</a:t>
            </a:r>
          </a:p>
        </p:txBody>
      </p:sp>
      <p:sp>
        <p:nvSpPr>
          <p:cNvPr id="5" name="TextBox 4">
            <a:extLst>
              <a:ext uri="{FF2B5EF4-FFF2-40B4-BE49-F238E27FC236}">
                <a16:creationId xmlns:a16="http://schemas.microsoft.com/office/drawing/2014/main" id="{99676F90-6631-282E-A04B-E0068D0CDDFB}"/>
              </a:ext>
            </a:extLst>
          </p:cNvPr>
          <p:cNvSpPr txBox="1"/>
          <p:nvPr/>
        </p:nvSpPr>
        <p:spPr>
          <a:xfrm>
            <a:off x="839972" y="2062722"/>
            <a:ext cx="8676168" cy="2241639"/>
          </a:xfrm>
          <a:prstGeom prst="rect">
            <a:avLst/>
          </a:prstGeom>
          <a:noFill/>
        </p:spPr>
        <p:txBody>
          <a:bodyPr wrap="square" rtlCol="0">
            <a:spAutoFit/>
          </a:bodyPr>
          <a:lstStyle/>
          <a:p>
            <a:pPr>
              <a:spcBef>
                <a:spcPts val="1000"/>
              </a:spcBef>
            </a:pPr>
            <a:r>
              <a:rPr lang="en-US" b="1" dirty="0"/>
              <a:t>Add</a:t>
            </a:r>
          </a:p>
          <a:p>
            <a:pPr marL="285750" indent="-285750">
              <a:spcBef>
                <a:spcPts val="1000"/>
              </a:spcBef>
              <a:buFont typeface="Arial" panose="020B0604020202020204" pitchFamily="34" charset="0"/>
              <a:buChar char="•"/>
            </a:pPr>
            <a:r>
              <a:rPr lang="en-US" sz="1600" dirty="0"/>
              <a:t>Deduplication: Group similar issues into a bucket</a:t>
            </a:r>
          </a:p>
          <a:p>
            <a:pPr marL="285750" indent="-285750">
              <a:spcBef>
                <a:spcPts val="1000"/>
              </a:spcBef>
              <a:buFont typeface="Arial" panose="020B0604020202020204" pitchFamily="34" charset="0"/>
              <a:buChar char="•"/>
            </a:pPr>
            <a:r>
              <a:rPr lang="en-US" sz="1600" dirty="0"/>
              <a:t>Have rollback strategy for log configs</a:t>
            </a:r>
          </a:p>
          <a:p>
            <a:pPr marL="285750" indent="-285750">
              <a:spcBef>
                <a:spcPts val="1000"/>
              </a:spcBef>
              <a:buFont typeface="Arial" panose="020B0604020202020204" pitchFamily="34" charset="0"/>
              <a:buChar char="•"/>
            </a:pPr>
            <a:r>
              <a:rPr lang="en-US" sz="1600" dirty="0"/>
              <a:t>Security: Protection against attack </a:t>
            </a:r>
          </a:p>
          <a:p>
            <a:pPr marL="285750" indent="-285750">
              <a:spcBef>
                <a:spcPts val="1000"/>
              </a:spcBef>
              <a:buFont typeface="Arial" panose="020B0604020202020204" pitchFamily="34" charset="0"/>
              <a:buChar char="•"/>
            </a:pPr>
            <a:r>
              <a:rPr lang="en-US" sz="1600" dirty="0"/>
              <a:t>Fast access: Cache hot issues in memory</a:t>
            </a:r>
          </a:p>
          <a:p>
            <a:pPr marL="285750" indent="-285750">
              <a:spcBef>
                <a:spcPts val="1000"/>
              </a:spcBef>
              <a:buFont typeface="Arial" panose="020B0604020202020204" pitchFamily="34" charset="0"/>
              <a:buChar char="•"/>
            </a:pPr>
            <a:r>
              <a:rPr lang="en-US" sz="1600" dirty="0"/>
              <a:t>Availability: horizontal scaling on burst traffics</a:t>
            </a:r>
          </a:p>
        </p:txBody>
      </p:sp>
    </p:spTree>
    <p:extLst>
      <p:ext uri="{BB962C8B-B14F-4D97-AF65-F5344CB8AC3E}">
        <p14:creationId xmlns:p14="http://schemas.microsoft.com/office/powerpoint/2010/main" val="541689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FB9E3-9003-02B9-7D25-2AA6077251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798FBE-E4B6-CDC0-FD5D-565E7D9B9240}"/>
              </a:ext>
            </a:extLst>
          </p:cNvPr>
          <p:cNvSpPr>
            <a:spLocks noGrp="1"/>
          </p:cNvSpPr>
          <p:nvPr>
            <p:ph type="title"/>
          </p:nvPr>
        </p:nvSpPr>
        <p:spPr/>
        <p:txBody>
          <a:bodyPr/>
          <a:lstStyle/>
          <a:p>
            <a:r>
              <a:rPr lang="en-US" dirty="0"/>
              <a:t>Portal</a:t>
            </a:r>
          </a:p>
        </p:txBody>
      </p:sp>
      <p:sp>
        <p:nvSpPr>
          <p:cNvPr id="6" name="Rounded Rectangle 5">
            <a:extLst>
              <a:ext uri="{FF2B5EF4-FFF2-40B4-BE49-F238E27FC236}">
                <a16:creationId xmlns:a16="http://schemas.microsoft.com/office/drawing/2014/main" id="{25FEF2F7-3F13-1ABF-25CB-4151C0EDB050}"/>
              </a:ext>
            </a:extLst>
          </p:cNvPr>
          <p:cNvSpPr/>
          <p:nvPr/>
        </p:nvSpPr>
        <p:spPr>
          <a:xfrm>
            <a:off x="3986748" y="1796520"/>
            <a:ext cx="1371600" cy="818706"/>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75000"/>
                    <a:lumOff val="25000"/>
                  </a:schemeClr>
                </a:solidFill>
              </a:rPr>
              <a:t>Portal</a:t>
            </a:r>
          </a:p>
        </p:txBody>
      </p:sp>
      <p:cxnSp>
        <p:nvCxnSpPr>
          <p:cNvPr id="12" name="Straight Arrow Connector 11">
            <a:extLst>
              <a:ext uri="{FF2B5EF4-FFF2-40B4-BE49-F238E27FC236}">
                <a16:creationId xmlns:a16="http://schemas.microsoft.com/office/drawing/2014/main" id="{77892DFB-BB6C-B698-7739-B861803E732A}"/>
              </a:ext>
            </a:extLst>
          </p:cNvPr>
          <p:cNvCxnSpPr>
            <a:cxnSpLocks/>
            <a:endCxn id="3" idx="0"/>
          </p:cNvCxnSpPr>
          <p:nvPr/>
        </p:nvCxnSpPr>
        <p:spPr>
          <a:xfrm flipH="1">
            <a:off x="4672549" y="2615226"/>
            <a:ext cx="8858" cy="7178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Can 15">
            <a:extLst>
              <a:ext uri="{FF2B5EF4-FFF2-40B4-BE49-F238E27FC236}">
                <a16:creationId xmlns:a16="http://schemas.microsoft.com/office/drawing/2014/main" id="{844DFB83-D5E5-C7D3-FAC2-DC8DA6B3AD41}"/>
              </a:ext>
            </a:extLst>
          </p:cNvPr>
          <p:cNvSpPr/>
          <p:nvPr/>
        </p:nvSpPr>
        <p:spPr>
          <a:xfrm>
            <a:off x="3031671" y="4960672"/>
            <a:ext cx="867944" cy="877308"/>
          </a:xfrm>
          <a:prstGeom prst="ca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Signatures</a:t>
            </a:r>
          </a:p>
        </p:txBody>
      </p:sp>
      <p:sp>
        <p:nvSpPr>
          <p:cNvPr id="17" name="Can 16">
            <a:extLst>
              <a:ext uri="{FF2B5EF4-FFF2-40B4-BE49-F238E27FC236}">
                <a16:creationId xmlns:a16="http://schemas.microsoft.com/office/drawing/2014/main" id="{D9D3A3BB-E088-2510-F3D4-C6194274784F}"/>
              </a:ext>
            </a:extLst>
          </p:cNvPr>
          <p:cNvSpPr/>
          <p:nvPr/>
        </p:nvSpPr>
        <p:spPr>
          <a:xfrm>
            <a:off x="6654270" y="4950865"/>
            <a:ext cx="870222" cy="877306"/>
          </a:xfrm>
          <a:prstGeom prst="ca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KBs</a:t>
            </a:r>
          </a:p>
        </p:txBody>
      </p:sp>
      <p:cxnSp>
        <p:nvCxnSpPr>
          <p:cNvPr id="21" name="Elbow Connector 20">
            <a:extLst>
              <a:ext uri="{FF2B5EF4-FFF2-40B4-BE49-F238E27FC236}">
                <a16:creationId xmlns:a16="http://schemas.microsoft.com/office/drawing/2014/main" id="{FCA981DB-71CD-4822-8216-87D7ACBF21DE}"/>
              </a:ext>
            </a:extLst>
          </p:cNvPr>
          <p:cNvCxnSpPr>
            <a:cxnSpLocks/>
            <a:stCxn id="3" idx="2"/>
            <a:endCxn id="16" idx="1"/>
          </p:cNvCxnSpPr>
          <p:nvPr/>
        </p:nvCxnSpPr>
        <p:spPr>
          <a:xfrm rot="5400000">
            <a:off x="3659739" y="3947861"/>
            <a:ext cx="818715" cy="120690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3" name="Elbow Connector 22">
            <a:extLst>
              <a:ext uri="{FF2B5EF4-FFF2-40B4-BE49-F238E27FC236}">
                <a16:creationId xmlns:a16="http://schemas.microsoft.com/office/drawing/2014/main" id="{0928A54F-EC6A-7DBB-DE4A-9A8BE6D5C519}"/>
              </a:ext>
            </a:extLst>
          </p:cNvPr>
          <p:cNvCxnSpPr>
            <a:cxnSpLocks/>
            <a:stCxn id="3" idx="2"/>
            <a:endCxn id="17" idx="1"/>
          </p:cNvCxnSpPr>
          <p:nvPr/>
        </p:nvCxnSpPr>
        <p:spPr>
          <a:xfrm rot="16200000" flipH="1">
            <a:off x="5476511" y="3337995"/>
            <a:ext cx="808908" cy="2416832"/>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28" name="Can 27">
            <a:extLst>
              <a:ext uri="{FF2B5EF4-FFF2-40B4-BE49-F238E27FC236}">
                <a16:creationId xmlns:a16="http://schemas.microsoft.com/office/drawing/2014/main" id="{FBC770DF-AEDF-A861-FF81-3D6B43DEBAA3}"/>
              </a:ext>
            </a:extLst>
          </p:cNvPr>
          <p:cNvSpPr/>
          <p:nvPr/>
        </p:nvSpPr>
        <p:spPr>
          <a:xfrm>
            <a:off x="1825606" y="4985081"/>
            <a:ext cx="867944" cy="818706"/>
          </a:xfrm>
          <a:prstGeom prst="ca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Logs</a:t>
            </a:r>
          </a:p>
        </p:txBody>
      </p:sp>
      <p:sp>
        <p:nvSpPr>
          <p:cNvPr id="34" name="Can 33">
            <a:extLst>
              <a:ext uri="{FF2B5EF4-FFF2-40B4-BE49-F238E27FC236}">
                <a16:creationId xmlns:a16="http://schemas.microsoft.com/office/drawing/2014/main" id="{FD682795-AD06-DF39-65A0-27E0DCCE86BB}"/>
              </a:ext>
            </a:extLst>
          </p:cNvPr>
          <p:cNvSpPr/>
          <p:nvPr/>
        </p:nvSpPr>
        <p:spPr>
          <a:xfrm>
            <a:off x="5533488" y="4980165"/>
            <a:ext cx="867944" cy="877307"/>
          </a:xfrm>
          <a:prstGeom prst="ca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Bugs</a:t>
            </a:r>
          </a:p>
        </p:txBody>
      </p:sp>
      <p:sp>
        <p:nvSpPr>
          <p:cNvPr id="44" name="Can 43">
            <a:extLst>
              <a:ext uri="{FF2B5EF4-FFF2-40B4-BE49-F238E27FC236}">
                <a16:creationId xmlns:a16="http://schemas.microsoft.com/office/drawing/2014/main" id="{812FE56E-032B-613C-EA9B-F8AB849A863F}"/>
              </a:ext>
            </a:extLst>
          </p:cNvPr>
          <p:cNvSpPr/>
          <p:nvPr/>
        </p:nvSpPr>
        <p:spPr>
          <a:xfrm>
            <a:off x="4260679" y="4960672"/>
            <a:ext cx="867944" cy="877307"/>
          </a:xfrm>
          <a:prstGeom prst="ca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Issues</a:t>
            </a:r>
          </a:p>
        </p:txBody>
      </p:sp>
      <p:cxnSp>
        <p:nvCxnSpPr>
          <p:cNvPr id="47" name="Elbow Connector 46">
            <a:extLst>
              <a:ext uri="{FF2B5EF4-FFF2-40B4-BE49-F238E27FC236}">
                <a16:creationId xmlns:a16="http://schemas.microsoft.com/office/drawing/2014/main" id="{7201E863-49E1-9ADF-FBDD-22A518B86962}"/>
              </a:ext>
            </a:extLst>
          </p:cNvPr>
          <p:cNvCxnSpPr>
            <a:cxnSpLocks/>
            <a:stCxn id="3" idx="2"/>
            <a:endCxn id="28" idx="1"/>
          </p:cNvCxnSpPr>
          <p:nvPr/>
        </p:nvCxnSpPr>
        <p:spPr>
          <a:xfrm rot="5400000">
            <a:off x="3044502" y="3357034"/>
            <a:ext cx="843124" cy="241297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BC882733-E555-5AA2-BEC2-F9414DF8FDCF}"/>
              </a:ext>
            </a:extLst>
          </p:cNvPr>
          <p:cNvSpPr/>
          <p:nvPr/>
        </p:nvSpPr>
        <p:spPr>
          <a:xfrm>
            <a:off x="3986749" y="3333059"/>
            <a:ext cx="1371600" cy="80889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Backend</a:t>
            </a:r>
          </a:p>
        </p:txBody>
      </p:sp>
      <p:cxnSp>
        <p:nvCxnSpPr>
          <p:cNvPr id="15" name="Elbow Connector 14">
            <a:extLst>
              <a:ext uri="{FF2B5EF4-FFF2-40B4-BE49-F238E27FC236}">
                <a16:creationId xmlns:a16="http://schemas.microsoft.com/office/drawing/2014/main" id="{C9E0713A-4506-8A9C-C379-F7B3EA5F159A}"/>
              </a:ext>
            </a:extLst>
          </p:cNvPr>
          <p:cNvCxnSpPr>
            <a:cxnSpLocks/>
            <a:stCxn id="3" idx="2"/>
            <a:endCxn id="34" idx="1"/>
          </p:cNvCxnSpPr>
          <p:nvPr/>
        </p:nvCxnSpPr>
        <p:spPr>
          <a:xfrm rot="16200000" flipH="1">
            <a:off x="4900900" y="3913605"/>
            <a:ext cx="838208" cy="129491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87907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5D019-1751-91DA-D894-D4B26A0AB8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43FD95-4923-26D2-045E-F8BE840B094B}"/>
              </a:ext>
            </a:extLst>
          </p:cNvPr>
          <p:cNvSpPr>
            <a:spLocks noGrp="1"/>
          </p:cNvSpPr>
          <p:nvPr>
            <p:ph type="title"/>
          </p:nvPr>
        </p:nvSpPr>
        <p:spPr/>
        <p:txBody>
          <a:bodyPr/>
          <a:lstStyle/>
          <a:p>
            <a:r>
              <a:rPr lang="en-US" dirty="0"/>
              <a:t>Portal: Role-Based Access</a:t>
            </a:r>
          </a:p>
        </p:txBody>
      </p:sp>
      <p:sp>
        <p:nvSpPr>
          <p:cNvPr id="5" name="TextBox 4">
            <a:extLst>
              <a:ext uri="{FF2B5EF4-FFF2-40B4-BE49-F238E27FC236}">
                <a16:creationId xmlns:a16="http://schemas.microsoft.com/office/drawing/2014/main" id="{6D06A9B0-E4CE-03E2-0C11-BA4A076B3261}"/>
              </a:ext>
            </a:extLst>
          </p:cNvPr>
          <p:cNvSpPr txBox="1"/>
          <p:nvPr/>
        </p:nvSpPr>
        <p:spPr>
          <a:xfrm>
            <a:off x="783047" y="1373707"/>
            <a:ext cx="7389628" cy="4355038"/>
          </a:xfrm>
          <a:prstGeom prst="rect">
            <a:avLst/>
          </a:prstGeom>
          <a:noFill/>
        </p:spPr>
        <p:txBody>
          <a:bodyPr wrap="square">
            <a:spAutoFit/>
          </a:bodyPr>
          <a:lstStyle/>
          <a:p>
            <a:pPr marL="285750" indent="-285750">
              <a:spcBef>
                <a:spcPts val="1000"/>
              </a:spcBef>
              <a:buFont typeface="Arial" panose="020B0604020202020204" pitchFamily="34" charset="0"/>
              <a:buChar char="•"/>
            </a:pPr>
            <a:r>
              <a:rPr lang="en-US" b="1" dirty="0"/>
              <a:t>Enterprise Admins</a:t>
            </a:r>
          </a:p>
          <a:p>
            <a:pPr marL="742950" lvl="1" indent="-285750">
              <a:spcBef>
                <a:spcPts val="1000"/>
              </a:spcBef>
              <a:buFont typeface="Arial" panose="020B0604020202020204" pitchFamily="34" charset="0"/>
              <a:buChar char="•"/>
            </a:pPr>
            <a:r>
              <a:rPr lang="en-US" sz="1600" dirty="0"/>
              <a:t>View own organization's issues only</a:t>
            </a:r>
          </a:p>
          <a:p>
            <a:pPr marL="742950" lvl="1" indent="-285750">
              <a:spcBef>
                <a:spcPts val="1000"/>
              </a:spcBef>
              <a:buFont typeface="Arial" panose="020B0604020202020204" pitchFamily="34" charset="0"/>
              <a:buChar char="•"/>
            </a:pPr>
            <a:r>
              <a:rPr lang="en-US" sz="1600" dirty="0"/>
              <a:t>Can push log collection configs update to endpoints</a:t>
            </a:r>
          </a:p>
          <a:p>
            <a:pPr marL="742950" lvl="1" indent="-285750">
              <a:spcBef>
                <a:spcPts val="1000"/>
              </a:spcBef>
              <a:buFont typeface="Arial" panose="020B0604020202020204" pitchFamily="34" charset="0"/>
              <a:buChar char="•"/>
            </a:pPr>
            <a:r>
              <a:rPr lang="en-US" sz="1600" dirty="0"/>
              <a:t>Not allow to view internal details</a:t>
            </a:r>
            <a:br>
              <a:rPr lang="en-US" sz="1600" dirty="0"/>
            </a:br>
            <a:endParaRPr lang="en-US" dirty="0"/>
          </a:p>
          <a:p>
            <a:pPr marL="285750" indent="-285750">
              <a:spcBef>
                <a:spcPts val="1000"/>
              </a:spcBef>
              <a:buFont typeface="Arial" panose="020B0604020202020204" pitchFamily="34" charset="0"/>
              <a:buChar char="•"/>
            </a:pPr>
            <a:r>
              <a:rPr lang="en-US" b="1" dirty="0"/>
              <a:t>Support Agents</a:t>
            </a:r>
          </a:p>
          <a:p>
            <a:pPr marL="742950" lvl="1" indent="-285750">
              <a:spcBef>
                <a:spcPts val="1000"/>
              </a:spcBef>
              <a:buFont typeface="Arial" panose="020B0604020202020204" pitchFamily="34" charset="0"/>
              <a:buChar char="•"/>
            </a:pPr>
            <a:r>
              <a:rPr lang="en-US" sz="1600" dirty="0"/>
              <a:t>View issues, signatures, and log collection configs of all enterprises</a:t>
            </a:r>
            <a:br>
              <a:rPr lang="en-US" sz="1600" dirty="0"/>
            </a:br>
            <a:endParaRPr lang="en-US" dirty="0"/>
          </a:p>
          <a:p>
            <a:pPr marL="285750" indent="-285750">
              <a:spcBef>
                <a:spcPts val="1000"/>
              </a:spcBef>
              <a:buFont typeface="Arial" panose="020B0604020202020204" pitchFamily="34" charset="0"/>
              <a:buChar char="•"/>
            </a:pPr>
            <a:r>
              <a:rPr lang="en-US" b="1" dirty="0"/>
              <a:t>Engineers</a:t>
            </a:r>
          </a:p>
          <a:p>
            <a:pPr marL="742950" lvl="1" indent="-285750">
              <a:spcBef>
                <a:spcPts val="1000"/>
              </a:spcBef>
              <a:buFont typeface="Arial" panose="020B0604020202020204" pitchFamily="34" charset="0"/>
              <a:buChar char="•"/>
            </a:pPr>
            <a:r>
              <a:rPr lang="en-US" sz="1600" dirty="0"/>
              <a:t>Has all capabilities of Support Agents</a:t>
            </a:r>
          </a:p>
          <a:p>
            <a:pPr marL="742950" lvl="1" indent="-285750">
              <a:spcBef>
                <a:spcPts val="1000"/>
              </a:spcBef>
              <a:buFont typeface="Arial" panose="020B0604020202020204" pitchFamily="34" charset="0"/>
              <a:buChar char="•"/>
            </a:pPr>
            <a:r>
              <a:rPr lang="en-US" sz="1600" dirty="0"/>
              <a:t>Manage signatures of crash, hang, general issues and their resolutions</a:t>
            </a:r>
          </a:p>
          <a:p>
            <a:pPr marL="742950" lvl="1" indent="-285750">
              <a:spcBef>
                <a:spcPts val="1000"/>
              </a:spcBef>
              <a:buFont typeface="Arial" panose="020B0604020202020204" pitchFamily="34" charset="0"/>
              <a:buChar char="•"/>
            </a:pPr>
            <a:r>
              <a:rPr lang="en-US" sz="1600" dirty="0"/>
              <a:t>Manage log collection configs</a:t>
            </a:r>
          </a:p>
        </p:txBody>
      </p:sp>
    </p:spTree>
    <p:extLst>
      <p:ext uri="{BB962C8B-B14F-4D97-AF65-F5344CB8AC3E}">
        <p14:creationId xmlns:p14="http://schemas.microsoft.com/office/powerpoint/2010/main" val="16480381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2DF16-BD4A-9033-E796-7A91E5C6BB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D8996D-28DC-CE60-2B3F-E74CFADF4960}"/>
              </a:ext>
            </a:extLst>
          </p:cNvPr>
          <p:cNvSpPr>
            <a:spLocks noGrp="1"/>
          </p:cNvSpPr>
          <p:nvPr>
            <p:ph type="title"/>
          </p:nvPr>
        </p:nvSpPr>
        <p:spPr/>
        <p:txBody>
          <a:bodyPr/>
          <a:lstStyle/>
          <a:p>
            <a:r>
              <a:rPr lang="en-US" dirty="0"/>
              <a:t>API Design</a:t>
            </a:r>
          </a:p>
        </p:txBody>
      </p:sp>
      <p:sp>
        <p:nvSpPr>
          <p:cNvPr id="5" name="TextBox 4">
            <a:extLst>
              <a:ext uri="{FF2B5EF4-FFF2-40B4-BE49-F238E27FC236}">
                <a16:creationId xmlns:a16="http://schemas.microsoft.com/office/drawing/2014/main" id="{D5CF309D-1321-AC9E-ADDF-464A3F5ED9F1}"/>
              </a:ext>
            </a:extLst>
          </p:cNvPr>
          <p:cNvSpPr txBox="1"/>
          <p:nvPr/>
        </p:nvSpPr>
        <p:spPr>
          <a:xfrm>
            <a:off x="754912" y="1612858"/>
            <a:ext cx="7389628" cy="4401205"/>
          </a:xfrm>
          <a:prstGeom prst="rect">
            <a:avLst/>
          </a:prstGeom>
          <a:noFill/>
        </p:spPr>
        <p:txBody>
          <a:bodyPr wrap="square">
            <a:spAutoFit/>
          </a:bodyPr>
          <a:lstStyle/>
          <a:p>
            <a:r>
              <a:rPr lang="en-US" b="1" dirty="0"/>
              <a:t>Client → Backend</a:t>
            </a:r>
            <a:endParaRPr lang="en-US" dirty="0"/>
          </a:p>
          <a:p>
            <a:pPr marL="285750" indent="-285750">
              <a:spcBef>
                <a:spcPts val="500"/>
              </a:spcBef>
              <a:buFont typeface="Arial" panose="020B0604020202020204" pitchFamily="34" charset="0"/>
              <a:buChar char="•"/>
            </a:pPr>
            <a:r>
              <a:rPr lang="en-US" sz="1600" dirty="0"/>
              <a:t>POST /logs - Submit log payload</a:t>
            </a:r>
          </a:p>
          <a:p>
            <a:pPr marL="285750" indent="-285750">
              <a:spcBef>
                <a:spcPts val="500"/>
              </a:spcBef>
              <a:buFont typeface="Arial" panose="020B0604020202020204" pitchFamily="34" charset="0"/>
              <a:buChar char="•"/>
            </a:pPr>
            <a:r>
              <a:rPr lang="en-US" sz="1600" dirty="0"/>
              <a:t>GET /configs/:</a:t>
            </a:r>
            <a:r>
              <a:rPr lang="en-US" sz="1600" dirty="0" err="1"/>
              <a:t>tenantId</a:t>
            </a:r>
            <a:r>
              <a:rPr lang="en-US" sz="1600" dirty="0"/>
              <a:t> - Download diagnostic configuration</a:t>
            </a:r>
          </a:p>
          <a:p>
            <a:pPr lvl="1">
              <a:spcBef>
                <a:spcPts val="500"/>
              </a:spcBef>
            </a:pPr>
            <a:endParaRPr lang="en-US" dirty="0"/>
          </a:p>
          <a:p>
            <a:r>
              <a:rPr lang="en-US" b="1" dirty="0"/>
              <a:t>Portal → Backend</a:t>
            </a:r>
            <a:endParaRPr lang="en-US" dirty="0"/>
          </a:p>
          <a:p>
            <a:pPr marL="285750" indent="-285750">
              <a:spcBef>
                <a:spcPts val="500"/>
              </a:spcBef>
              <a:buFont typeface="Arial" panose="020B0604020202020204" pitchFamily="34" charset="0"/>
              <a:buChar char="•"/>
            </a:pPr>
            <a:r>
              <a:rPr lang="en-US" sz="1600" dirty="0"/>
              <a:t>/issues - CRUD + batch resolve matching</a:t>
            </a:r>
          </a:p>
          <a:p>
            <a:pPr marL="285750" indent="-285750">
              <a:spcBef>
                <a:spcPts val="500"/>
              </a:spcBef>
              <a:buFont typeface="Arial" panose="020B0604020202020204" pitchFamily="34" charset="0"/>
              <a:buChar char="•"/>
            </a:pPr>
            <a:r>
              <a:rPr lang="en-US" sz="1600" dirty="0"/>
              <a:t>/signatures - CRUD operations</a:t>
            </a:r>
          </a:p>
          <a:p>
            <a:pPr marL="285750" indent="-285750">
              <a:spcBef>
                <a:spcPts val="500"/>
              </a:spcBef>
              <a:buFont typeface="Arial" panose="020B0604020202020204" pitchFamily="34" charset="0"/>
              <a:buChar char="•"/>
            </a:pPr>
            <a:r>
              <a:rPr lang="en-US" sz="1600" dirty="0"/>
              <a:t>/configs - CRUD + deployment status</a:t>
            </a:r>
          </a:p>
          <a:p>
            <a:pPr>
              <a:spcBef>
                <a:spcPts val="500"/>
              </a:spcBef>
            </a:pPr>
            <a:endParaRPr lang="en-US" sz="1600" dirty="0"/>
          </a:p>
          <a:p>
            <a:pPr>
              <a:spcBef>
                <a:spcPts val="500"/>
              </a:spcBef>
            </a:pPr>
            <a:r>
              <a:rPr lang="en-US" b="1" dirty="0"/>
              <a:t>Key patterns</a:t>
            </a:r>
          </a:p>
          <a:p>
            <a:pPr marL="285750" indent="-285750">
              <a:spcBef>
                <a:spcPts val="500"/>
              </a:spcBef>
              <a:buFont typeface="Arial" panose="020B0604020202020204" pitchFamily="34" charset="0"/>
              <a:buChar char="•"/>
            </a:pPr>
            <a:r>
              <a:rPr lang="en-US" sz="1600" dirty="0"/>
              <a:t>RESTful design</a:t>
            </a:r>
          </a:p>
          <a:p>
            <a:pPr marL="285750" indent="-285750">
              <a:spcBef>
                <a:spcPts val="500"/>
              </a:spcBef>
              <a:buFont typeface="Arial" panose="020B0604020202020204" pitchFamily="34" charset="0"/>
              <a:buChar char="•"/>
            </a:pPr>
            <a:r>
              <a:rPr lang="en-US" sz="1600" dirty="0"/>
              <a:t>SSE for real-time log collection configs push to endpoints</a:t>
            </a:r>
          </a:p>
          <a:p>
            <a:pPr marL="285750" indent="-285750">
              <a:spcBef>
                <a:spcPts val="500"/>
              </a:spcBef>
              <a:buFont typeface="Arial" panose="020B0604020202020204" pitchFamily="34" charset="0"/>
              <a:buChar char="•"/>
            </a:pPr>
            <a:r>
              <a:rPr lang="en-US" sz="1600" dirty="0"/>
              <a:t>Role-based filtering on responses</a:t>
            </a:r>
          </a:p>
          <a:p>
            <a:pPr marL="742950" lvl="1" indent="-285750">
              <a:spcBef>
                <a:spcPts val="500"/>
              </a:spcBef>
              <a:buFont typeface="Arial" panose="020B0604020202020204" pitchFamily="34" charset="0"/>
              <a:buChar char="•"/>
            </a:pPr>
            <a:endParaRPr lang="en-US" sz="1600" dirty="0"/>
          </a:p>
        </p:txBody>
      </p:sp>
    </p:spTree>
    <p:extLst>
      <p:ext uri="{BB962C8B-B14F-4D97-AF65-F5344CB8AC3E}">
        <p14:creationId xmlns:p14="http://schemas.microsoft.com/office/powerpoint/2010/main" val="155255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ABE1E-A25F-BAAD-E971-4B72C2D56771}"/>
              </a:ext>
            </a:extLst>
          </p:cNvPr>
          <p:cNvSpPr>
            <a:spLocks noGrp="1"/>
          </p:cNvSpPr>
          <p:nvPr>
            <p:ph type="title"/>
          </p:nvPr>
        </p:nvSpPr>
        <p:spPr/>
        <p:txBody>
          <a:bodyPr/>
          <a:lstStyle/>
          <a:p>
            <a:r>
              <a:rPr lang="en-US" dirty="0"/>
              <a:t>System Quality</a:t>
            </a:r>
          </a:p>
        </p:txBody>
      </p:sp>
      <p:sp>
        <p:nvSpPr>
          <p:cNvPr id="5" name="TextBox 4">
            <a:extLst>
              <a:ext uri="{FF2B5EF4-FFF2-40B4-BE49-F238E27FC236}">
                <a16:creationId xmlns:a16="http://schemas.microsoft.com/office/drawing/2014/main" id="{A36384E2-3E5C-36D0-33F3-214CA73292E2}"/>
              </a:ext>
            </a:extLst>
          </p:cNvPr>
          <p:cNvSpPr txBox="1"/>
          <p:nvPr/>
        </p:nvSpPr>
        <p:spPr>
          <a:xfrm>
            <a:off x="677334" y="1561068"/>
            <a:ext cx="7357403" cy="1585049"/>
          </a:xfrm>
          <a:prstGeom prst="rect">
            <a:avLst/>
          </a:prstGeom>
          <a:noFill/>
        </p:spPr>
        <p:txBody>
          <a:bodyPr wrap="square" rtlCol="0">
            <a:spAutoFit/>
          </a:bodyPr>
          <a:lstStyle/>
          <a:p>
            <a:pPr marL="285750" indent="-285750">
              <a:spcBef>
                <a:spcPts val="1000"/>
              </a:spcBef>
              <a:buFont typeface="Arial" panose="020B0604020202020204" pitchFamily="34" charset="0"/>
              <a:buChar char="•"/>
            </a:pPr>
            <a:r>
              <a:rPr lang="en-US" dirty="0"/>
              <a:t>Unit + integration tests (100% new code)</a:t>
            </a:r>
          </a:p>
          <a:p>
            <a:pPr marL="285750" indent="-285750">
              <a:spcBef>
                <a:spcPts val="1000"/>
              </a:spcBef>
              <a:buFont typeface="Arial" panose="020B0604020202020204" pitchFamily="34" charset="0"/>
              <a:buChar char="•"/>
            </a:pPr>
            <a:r>
              <a:rPr lang="en-US" dirty="0"/>
              <a:t>Load testing for burst scenarios</a:t>
            </a:r>
          </a:p>
          <a:p>
            <a:pPr marL="285750" indent="-285750">
              <a:spcBef>
                <a:spcPts val="1000"/>
              </a:spcBef>
              <a:buFont typeface="Arial" panose="020B0604020202020204" pitchFamily="34" charset="0"/>
              <a:buChar char="•"/>
            </a:pPr>
            <a:r>
              <a:rPr lang="en-US" dirty="0"/>
              <a:t>Signature matching accuracy metrics</a:t>
            </a:r>
          </a:p>
          <a:p>
            <a:pPr marL="285750" indent="-285750">
              <a:spcBef>
                <a:spcPts val="1000"/>
              </a:spcBef>
              <a:buFont typeface="Arial" panose="020B0604020202020204" pitchFamily="34" charset="0"/>
              <a:buChar char="•"/>
            </a:pPr>
            <a:r>
              <a:rPr lang="en-US" dirty="0"/>
              <a:t>Alerting on pipeline latency</a:t>
            </a:r>
          </a:p>
        </p:txBody>
      </p:sp>
    </p:spTree>
    <p:extLst>
      <p:ext uri="{BB962C8B-B14F-4D97-AF65-F5344CB8AC3E}">
        <p14:creationId xmlns:p14="http://schemas.microsoft.com/office/powerpoint/2010/main" val="410067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59BEE-B356-89BB-FC08-1C75E4B3E5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FA16AC-4194-752B-03FA-704D66871E2B}"/>
              </a:ext>
            </a:extLst>
          </p:cNvPr>
          <p:cNvSpPr>
            <a:spLocks noGrp="1"/>
          </p:cNvSpPr>
          <p:nvPr>
            <p:ph type="title"/>
          </p:nvPr>
        </p:nvSpPr>
        <p:spPr/>
        <p:txBody>
          <a:bodyPr/>
          <a:lstStyle/>
          <a:p>
            <a:r>
              <a:rPr lang="en-US" dirty="0"/>
              <a:t>What I'd Add in Production</a:t>
            </a:r>
          </a:p>
        </p:txBody>
      </p:sp>
      <p:sp>
        <p:nvSpPr>
          <p:cNvPr id="5" name="TextBox 4">
            <a:extLst>
              <a:ext uri="{FF2B5EF4-FFF2-40B4-BE49-F238E27FC236}">
                <a16:creationId xmlns:a16="http://schemas.microsoft.com/office/drawing/2014/main" id="{13A5D9B2-3741-1D9E-D731-2F652E30E3D0}"/>
              </a:ext>
            </a:extLst>
          </p:cNvPr>
          <p:cNvSpPr txBox="1"/>
          <p:nvPr/>
        </p:nvSpPr>
        <p:spPr>
          <a:xfrm>
            <a:off x="677334" y="1561068"/>
            <a:ext cx="7357403" cy="4955203"/>
          </a:xfrm>
          <a:prstGeom prst="rect">
            <a:avLst/>
          </a:prstGeom>
          <a:noFill/>
        </p:spPr>
        <p:txBody>
          <a:bodyPr wrap="square" rtlCol="0">
            <a:spAutoFit/>
          </a:bodyPr>
          <a:lstStyle/>
          <a:p>
            <a:pPr marL="285750" indent="-285750">
              <a:spcBef>
                <a:spcPts val="1000"/>
              </a:spcBef>
              <a:buFont typeface="Arial" panose="020B0604020202020204" pitchFamily="34" charset="0"/>
              <a:buChar char="•"/>
            </a:pPr>
            <a:r>
              <a:rPr lang="en-US" dirty="0"/>
              <a:t>AWS infrastructure</a:t>
            </a:r>
          </a:p>
          <a:p>
            <a:pPr marL="742950" lvl="1" indent="-285750">
              <a:spcBef>
                <a:spcPts val="1000"/>
              </a:spcBef>
              <a:buFont typeface="Arial" panose="020B0604020202020204" pitchFamily="34" charset="0"/>
              <a:buChar char="•"/>
            </a:pPr>
            <a:r>
              <a:rPr lang="en-US" sz="1600" dirty="0"/>
              <a:t>Portal domain: Route53</a:t>
            </a:r>
          </a:p>
          <a:p>
            <a:pPr marL="742950" lvl="1" indent="-285750">
              <a:spcBef>
                <a:spcPts val="1000"/>
              </a:spcBef>
              <a:buFont typeface="Arial" panose="020B0604020202020204" pitchFamily="34" charset="0"/>
              <a:buChar char="•"/>
            </a:pPr>
            <a:r>
              <a:rPr lang="en-US" sz="1600" dirty="0"/>
              <a:t>Portal responsiveness: CloudFront Distribution</a:t>
            </a:r>
          </a:p>
          <a:p>
            <a:pPr marL="742950" lvl="1" indent="-285750">
              <a:spcBef>
                <a:spcPts val="1000"/>
              </a:spcBef>
              <a:buFont typeface="Arial" panose="020B0604020202020204" pitchFamily="34" charset="0"/>
              <a:buChar char="•"/>
            </a:pPr>
            <a:r>
              <a:rPr lang="en-US" sz="1600" dirty="0"/>
              <a:t>Security: Rate limit, WAF</a:t>
            </a:r>
          </a:p>
          <a:p>
            <a:pPr marL="742950" lvl="1" indent="-285750">
              <a:spcBef>
                <a:spcPts val="1000"/>
              </a:spcBef>
              <a:buFont typeface="Arial" panose="020B0604020202020204" pitchFamily="34" charset="0"/>
              <a:buChar char="•"/>
            </a:pPr>
            <a:r>
              <a:rPr lang="en-US" sz="1600" dirty="0"/>
              <a:t>Backend services access: API Gateway, Proxy Lambdas</a:t>
            </a:r>
          </a:p>
          <a:p>
            <a:pPr marL="742950" lvl="1" indent="-285750">
              <a:spcBef>
                <a:spcPts val="1000"/>
              </a:spcBef>
              <a:buFont typeface="Arial" panose="020B0604020202020204" pitchFamily="34" charset="0"/>
              <a:buChar char="•"/>
            </a:pPr>
            <a:r>
              <a:rPr lang="en-US" sz="1600" dirty="0"/>
              <a:t>Backend microservices: Lambdas</a:t>
            </a:r>
          </a:p>
          <a:p>
            <a:pPr marL="742950" lvl="1" indent="-285750">
              <a:spcBef>
                <a:spcPts val="1000"/>
              </a:spcBef>
              <a:buFont typeface="Arial" panose="020B0604020202020204" pitchFamily="34" charset="0"/>
              <a:buChar char="•"/>
            </a:pPr>
            <a:r>
              <a:rPr lang="en-US" sz="1600" dirty="0"/>
              <a:t>Logs requests queue: SQS</a:t>
            </a:r>
          </a:p>
          <a:p>
            <a:pPr marL="742950" lvl="1" indent="-285750">
              <a:spcBef>
                <a:spcPts val="1000"/>
              </a:spcBef>
              <a:buFont typeface="Arial" panose="020B0604020202020204" pitchFamily="34" charset="0"/>
              <a:buChar char="•"/>
            </a:pPr>
            <a:r>
              <a:rPr lang="en-US" sz="1600" dirty="0"/>
              <a:t>Logs processing pipeline orchestration: Step Functions</a:t>
            </a:r>
          </a:p>
          <a:p>
            <a:pPr marL="742950" lvl="1" indent="-285750">
              <a:spcBef>
                <a:spcPts val="1000"/>
              </a:spcBef>
              <a:buFont typeface="Arial" panose="020B0604020202020204" pitchFamily="34" charset="0"/>
              <a:buChar char="•"/>
            </a:pPr>
            <a:r>
              <a:rPr lang="en-US" sz="1600" dirty="0"/>
              <a:t>DB storage: S3 (crash dumps), DynamoDB or PostgreSQL</a:t>
            </a:r>
          </a:p>
          <a:p>
            <a:pPr marL="742950" lvl="1" indent="-285750">
              <a:spcBef>
                <a:spcPts val="1000"/>
              </a:spcBef>
              <a:buFont typeface="Arial" panose="020B0604020202020204" pitchFamily="34" charset="0"/>
              <a:buChar char="•"/>
            </a:pPr>
            <a:r>
              <a:rPr lang="en-US" sz="1600" dirty="0"/>
              <a:t>Authentication: Secrets Manager, IAM, Cognito</a:t>
            </a:r>
          </a:p>
          <a:p>
            <a:pPr marL="742950" lvl="1" indent="-285750">
              <a:spcBef>
                <a:spcPts val="1000"/>
              </a:spcBef>
              <a:buFont typeface="Arial" panose="020B0604020202020204" pitchFamily="34" charset="0"/>
              <a:buChar char="•"/>
            </a:pPr>
            <a:r>
              <a:rPr lang="en-US" sz="1600" dirty="0"/>
              <a:t>Observability: CloudWatch, CloudTrail, X-Ray</a:t>
            </a:r>
          </a:p>
          <a:p>
            <a:pPr marL="285750" indent="-285750">
              <a:spcBef>
                <a:spcPts val="1000"/>
              </a:spcBef>
              <a:buFont typeface="Arial" panose="020B0604020202020204" pitchFamily="34" charset="0"/>
              <a:buChar char="•"/>
            </a:pPr>
            <a:r>
              <a:rPr lang="en-US" dirty="0"/>
              <a:t>CI/CD pipeline</a:t>
            </a:r>
          </a:p>
          <a:p>
            <a:pPr marL="285750" indent="-285750">
              <a:spcBef>
                <a:spcPts val="1000"/>
              </a:spcBef>
              <a:buFont typeface="Arial" panose="020B0604020202020204" pitchFamily="34" charset="0"/>
              <a:buChar char="•"/>
            </a:pPr>
            <a:r>
              <a:rPr lang="en-US" dirty="0"/>
              <a:t>Data retention &amp; compliance</a:t>
            </a:r>
          </a:p>
        </p:txBody>
      </p:sp>
    </p:spTree>
    <p:extLst>
      <p:ext uri="{BB962C8B-B14F-4D97-AF65-F5344CB8AC3E}">
        <p14:creationId xmlns:p14="http://schemas.microsoft.com/office/powerpoint/2010/main" val="4708098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F35A2-2CFA-E991-7499-189E2E82E92A}"/>
              </a:ext>
            </a:extLst>
          </p:cNvPr>
          <p:cNvSpPr>
            <a:spLocks noGrp="1"/>
          </p:cNvSpPr>
          <p:nvPr>
            <p:ph type="title"/>
          </p:nvPr>
        </p:nvSpPr>
        <p:spPr>
          <a:xfrm>
            <a:off x="4636490" y="2665958"/>
            <a:ext cx="8596668" cy="1320800"/>
          </a:xfrm>
        </p:spPr>
        <p:txBody>
          <a:bodyPr/>
          <a:lstStyle/>
          <a:p>
            <a:r>
              <a:rPr lang="en-US" dirty="0"/>
              <a:t>Demo</a:t>
            </a:r>
          </a:p>
        </p:txBody>
      </p:sp>
    </p:spTree>
    <p:extLst>
      <p:ext uri="{BB962C8B-B14F-4D97-AF65-F5344CB8AC3E}">
        <p14:creationId xmlns:p14="http://schemas.microsoft.com/office/powerpoint/2010/main" val="2249917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BA56A-3B23-F5E2-8063-8682C97A02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D5F064-B7AE-D315-E80A-7DE3CF330FF5}"/>
              </a:ext>
            </a:extLst>
          </p:cNvPr>
          <p:cNvSpPr>
            <a:spLocks noGrp="1"/>
          </p:cNvSpPr>
          <p:nvPr>
            <p:ph type="title"/>
          </p:nvPr>
        </p:nvSpPr>
        <p:spPr>
          <a:xfrm>
            <a:off x="1092004" y="2768600"/>
            <a:ext cx="8596668" cy="1320800"/>
          </a:xfrm>
        </p:spPr>
        <p:txBody>
          <a:bodyPr/>
          <a:lstStyle/>
          <a:p>
            <a:pPr algn="ctr"/>
            <a:r>
              <a:rPr lang="en-US" dirty="0"/>
              <a:t>Thank You</a:t>
            </a:r>
          </a:p>
        </p:txBody>
      </p:sp>
    </p:spTree>
    <p:extLst>
      <p:ext uri="{BB962C8B-B14F-4D97-AF65-F5344CB8AC3E}">
        <p14:creationId xmlns:p14="http://schemas.microsoft.com/office/powerpoint/2010/main" val="131492734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2395</TotalTime>
  <Words>1844</Words>
  <Application>Microsoft Macintosh PowerPoint</Application>
  <PresentationFormat>Widescreen</PresentationFormat>
  <Paragraphs>306</Paragraphs>
  <Slides>24</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Arial</vt:lpstr>
      <vt:lpstr>Courier New</vt:lpstr>
      <vt:lpstr>Trebuchet MS</vt:lpstr>
      <vt:lpstr>Wingdings 3</vt:lpstr>
      <vt:lpstr>Facet</vt:lpstr>
      <vt:lpstr>Log Analytics and Resolution</vt:lpstr>
      <vt:lpstr>Problem Statement</vt:lpstr>
      <vt:lpstr>Users</vt:lpstr>
      <vt:lpstr>System Components</vt:lpstr>
      <vt:lpstr>Functional Requirements</vt:lpstr>
      <vt:lpstr>Non-Functional Requirements</vt:lpstr>
      <vt:lpstr>Scale Considerations</vt:lpstr>
      <vt:lpstr>High-Level Architecture</vt:lpstr>
      <vt:lpstr>Logs Agent Client</vt:lpstr>
      <vt:lpstr>Logs Agent Client: Smart Log Collection</vt:lpstr>
      <vt:lpstr>Logs Agent Client: Configurations Sample</vt:lpstr>
      <vt:lpstr>Logs Agent Client: Production‑Readiness Requirements</vt:lpstr>
      <vt:lpstr>Backend Service: Log Processing Pipeline</vt:lpstr>
      <vt:lpstr>Backend Service: Smart Diagnostic</vt:lpstr>
      <vt:lpstr>Backend Service: Smart Diagnostic (Continued)</vt:lpstr>
      <vt:lpstr>Backend Service: Support Portal</vt:lpstr>
      <vt:lpstr>Backend Service: Production‑Readiness Requirements</vt:lpstr>
      <vt:lpstr>Portal</vt:lpstr>
      <vt:lpstr>Portal: Role-Based Access</vt:lpstr>
      <vt:lpstr>API Design</vt:lpstr>
      <vt:lpstr>System Quality</vt:lpstr>
      <vt:lpstr>What I'd Add in Production</vt:lpstr>
      <vt:lpstr>Demo</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Lynn Hoang</dc:creator>
  <cp:lastModifiedBy>Lynn Hoang</cp:lastModifiedBy>
  <cp:revision>10</cp:revision>
  <dcterms:created xsi:type="dcterms:W3CDTF">2026-05-23T23:44:03Z</dcterms:created>
  <dcterms:modified xsi:type="dcterms:W3CDTF">2026-05-25T15:39:14Z</dcterms:modified>
</cp:coreProperties>
</file>